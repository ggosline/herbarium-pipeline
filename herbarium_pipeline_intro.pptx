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4" r:id="rId23"/>
    <p:sldId id="265" r:id="rId11"/>
    <p:sldId id="266" r:id="rId12"/>
    <p:sldId id="268" r:id="rId13"/>
    <p:sldId id="269" r:id="rId14"/>
    <p:sldId id="270" r:id="rId15"/>
    <p:sldId id="271" r:id="rId16"/>
    <p:sldId id="272" r:id="rId17"/>
    <p:sldId id="273" r:id="rId18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18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3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85800" y="1371600"/>
            <a:ext cx="7406640" cy="3840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1371600"/>
            <a:ext cx="109728" cy="384048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1600200"/>
            <a:ext cx="6766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695C"/>
                </a:solidFill>
              </a:rPr>
              <a:t>Herbarium Classification
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926080"/>
            <a:ext cx="6766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55A64"/>
                </a:solidFill>
              </a:rPr>
              <a:t>A guided walkthrough: downloading specimen images,
filtering, training a deep learning model, and reviewing results.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4434840"/>
            <a:ext cx="1170432" cy="594360"/>
          </a:xfrm>
          <a:prstGeom prst="round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0">
                <a:solidFill>
                  <a:srgbClr val="FFFFFF"/>
                </a:solidFill>
              </a:rPr>
              <a:t>1
Download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79776" y="4434840"/>
            <a:ext cx="1170432" cy="594360"/>
          </a:xfrm>
          <a:prstGeom prst="round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0">
                <a:solidFill>
                  <a:srgbClr val="FFFFFF"/>
                </a:solidFill>
              </a:rPr>
              <a:t>2
Filter &amp; Crop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62272" y="4434840"/>
            <a:ext cx="1170432" cy="594360"/>
          </a:xfrm>
          <a:prstGeom prst="roundRect">
            <a:avLst/>
          </a:prstGeom>
          <a:solidFill>
            <a:srgbClr val="00AC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0">
                <a:solidFill>
                  <a:srgbClr val="FFFFFF"/>
                </a:solidFill>
              </a:rPr>
              <a:t>3
Train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44768" y="4434840"/>
            <a:ext cx="1170432" cy="594360"/>
          </a:xfrm>
          <a:prstGeom prst="round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0">
                <a:solidFill>
                  <a:srgbClr val="FFFFFF"/>
                </a:solidFill>
              </a:rPr>
              <a:t>4
Identify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0" y="914400"/>
            <a:ext cx="3474720" cy="5212080"/>
          </a:xfrm>
          <a:prstGeom prst="rect">
            <a:avLst/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052560" y="146304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0" i="0">
                <a:solidFill>
                  <a:srgbClr val="1A2027"/>
                </a:solidFill>
              </a:rPr>
              <a:t>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1080" y="3474720"/>
            <a:ext cx="3017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455A64"/>
                </a:solidFill>
              </a:rPr>
              <a:t>• 100s of species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55A64"/>
                </a:solidFill>
              </a:rPr>
              <a:t>• Herbarium scans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55A64"/>
                </a:solidFill>
              </a:rPr>
              <a:t>• GPU-accelerated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55A64"/>
                </a:solidFill>
              </a:rPr>
              <a:t>• Cloud GPU training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0CBC4"/>
                </a:solidFill>
              </a:rPr>
              <a:t>George Gosline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41148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3716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What You'll Build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13232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0CBC4"/>
                </a:solidFill>
              </a:rPr>
              <a:t>A trained deep learning model that identifies plant species from herbarium specimen images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6528816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55A64"/>
                </a:solidFill>
              </a:rPr>
              <a:t>Herbarium Classification Pipeline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444752"/>
            <a:ext cx="2743200" cy="1828800"/>
          </a:xfrm>
          <a:prstGeom prst="roundRect">
            <a:avLst/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>
                <a:solidFill>
                  <a:srgbClr val="1A2027"/>
                </a:solidFill>
              </a:rPr>
              <a:t>Input
Herbarium scans
(any scanner format)</a:t>
            </a:r>
          </a:p>
        </p:txBody>
      </p:sp>
      <p:sp>
        <p:nvSpPr>
          <p:cNvPr id="9" name="Can 8"/>
          <p:cNvSpPr/>
          <p:nvPr/>
        </p:nvSpPr>
        <p:spPr>
          <a:xfrm>
            <a:off x="3200400" y="2231136"/>
            <a:ext cx="1188720" cy="256032"/>
          </a:xfrm>
          <a:prstGeom prst="can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00400" y="2066544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55A64"/>
                </a:solidFill>
              </a:rPr>
              <a:t>train model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444752"/>
            <a:ext cx="2377440" cy="1828800"/>
          </a:xfrm>
          <a:prstGeom prst="round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>
                <a:solidFill>
                  <a:srgbClr val="FFFFFF"/>
                </a:solidFill>
              </a:rPr>
              <a:t>Model
checkpoint
(.ckpt)</a:t>
            </a:r>
          </a:p>
        </p:txBody>
      </p:sp>
      <p:sp>
        <p:nvSpPr>
          <p:cNvPr id="12" name="Can 11"/>
          <p:cNvSpPr/>
          <p:nvPr/>
        </p:nvSpPr>
        <p:spPr>
          <a:xfrm>
            <a:off x="6949440" y="2231136"/>
            <a:ext cx="1188720" cy="256032"/>
          </a:xfrm>
          <a:prstGeom prst="can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949440" y="2066544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55A64"/>
                </a:solidFill>
              </a:rPr>
              <a:t>inference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444752"/>
            <a:ext cx="3566160" cy="1828800"/>
          </a:xfrm>
          <a:prstGeom prst="roundRect">
            <a:avLst/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>
                <a:solidFill>
                  <a:srgbClr val="1A2027"/>
                </a:solidFill>
              </a:rPr>
              <a:t>Output
Top-5 species
predictions + confidence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54787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695C"/>
                </a:solidFill>
              </a:rPr>
              <a:t>Capabilities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913632"/>
            <a:ext cx="5303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1A2027"/>
                </a:solidFill>
              </a:rPr>
              <a:t>• Classifies hundreds of species simultaneously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2027"/>
                </a:solidFill>
              </a:rPr>
              <a:t>• Handles hierarchical taxonomy — species / genus / family heads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2027"/>
                </a:solidFill>
              </a:rPr>
              <a:t>• Optionally fuses geographic coordinates (lat/lon) with image features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2027"/>
                </a:solidFill>
              </a:rPr>
              <a:t>• Flags uncertain identifications and probable mis-labelled specimens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2027"/>
                </a:solidFill>
              </a:rPr>
              <a:t>• Runs on a RunPod cloud GPU — a few dollars per training run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3547872"/>
            <a:ext cx="5852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55A64"/>
                </a:solidFill>
              </a:rPr>
              <a:t>Measured result: African Rubiaceae, 1,341 species across 164 genera, ~130k specimens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0" y="4005072"/>
            <a:ext cx="1828800" cy="1188720"/>
          </a:xfrm>
          <a:prstGeom prst="round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>
                <a:solidFill>
                  <a:srgbClr val="FFFFFF"/>
                </a:solidFill>
              </a:rPr>
              <a:t>88.7 %
Top-1 accuracy (species)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55279" y="4005072"/>
            <a:ext cx="1828800" cy="1188720"/>
          </a:xfrm>
          <a:prstGeom prst="round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>
                <a:solidFill>
                  <a:srgbClr val="FFFFFF"/>
                </a:solidFill>
              </a:rPr>
              <a:t>97.3 %
Genus accuracy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966960" y="4005072"/>
            <a:ext cx="1828800" cy="1188720"/>
          </a:xfrm>
          <a:prstGeom prst="roundRect">
            <a:avLst/>
          </a:prstGeom>
          <a:solidFill>
            <a:srgbClr val="015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>
                <a:solidFill>
                  <a:srgbClr val="FFFFFF"/>
                </a:solidFill>
              </a:rPr>
              <a:t>~5 hrs
Training time (1 GPU)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41148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3716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The Four-Stage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13232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0CBC4"/>
                </a:solidFill>
              </a:rPr>
              <a:t>Each stage produces files consumed by the next; all persist to disk so any stage can be re-run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6528816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55A64"/>
                </a:solidFill>
              </a:rPr>
              <a:t>Herbarium Classification Pipeline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1261872"/>
            <a:ext cx="2103120" cy="1051560"/>
          </a:xfrm>
          <a:prstGeom prst="round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1
Download</a:t>
            </a:r>
          </a:p>
        </p:txBody>
      </p:sp>
      <p:sp>
        <p:nvSpPr>
          <p:cNvPr id="9" name="Can 8"/>
          <p:cNvSpPr/>
          <p:nvPr/>
        </p:nvSpPr>
        <p:spPr>
          <a:xfrm>
            <a:off x="2773680" y="1636776"/>
            <a:ext cx="274320" cy="256032"/>
          </a:xfrm>
          <a:prstGeom prst="can">
            <a:avLst/>
          </a:prstGeom>
          <a:solidFill>
            <a:srgbClr val="CF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74320" y="2450592"/>
            <a:ext cx="2103120" cy="1463040"/>
          </a:xfrm>
          <a:prstGeom prst="rect">
            <a:avLst/>
          </a:prstGeom>
          <a:solidFill>
            <a:srgbClr val="F0F2F4"/>
          </a:solidFill>
          <a:ln w="9525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2496312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027"/>
                </a:solidFill>
              </a:rPr>
              <a:t>Query GBIF API
Fetch images
Write specsin.csv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44240" y="1261872"/>
            <a:ext cx="2103120" cy="1051560"/>
          </a:xfrm>
          <a:prstGeom prst="roundRect">
            <a:avLst/>
          </a:prstGeom>
          <a:solidFill>
            <a:srgbClr val="006E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2
Filter &amp;
Crop</a:t>
            </a:r>
          </a:p>
        </p:txBody>
      </p:sp>
      <p:sp>
        <p:nvSpPr>
          <p:cNvPr id="13" name="Can 12"/>
          <p:cNvSpPr/>
          <p:nvPr/>
        </p:nvSpPr>
        <p:spPr>
          <a:xfrm>
            <a:off x="5943600" y="1636776"/>
            <a:ext cx="274320" cy="256032"/>
          </a:xfrm>
          <a:prstGeom prst="can">
            <a:avLst/>
          </a:prstGeom>
          <a:solidFill>
            <a:srgbClr val="CF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444240" y="2450592"/>
            <a:ext cx="2103120" cy="1463040"/>
          </a:xfrm>
          <a:prstGeom prst="rect">
            <a:avLst/>
          </a:prstGeom>
          <a:solidFill>
            <a:srgbClr val="F0F2F4"/>
          </a:solidFill>
          <a:ln w="9525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35680" y="2496312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027"/>
                </a:solidFill>
              </a:rPr>
              <a:t>Remove field photos
CLIP zero-shot classify
Crop scanner borders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14160" y="1261872"/>
            <a:ext cx="2103120" cy="1051560"/>
          </a:xfrm>
          <a:prstGeom prst="round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3
Train</a:t>
            </a:r>
          </a:p>
        </p:txBody>
      </p:sp>
      <p:sp>
        <p:nvSpPr>
          <p:cNvPr id="21" name="Can 20"/>
          <p:cNvSpPr/>
          <p:nvPr/>
        </p:nvSpPr>
        <p:spPr>
          <a:xfrm>
            <a:off x="9113520" y="1636776"/>
            <a:ext cx="274320" cy="256032"/>
          </a:xfrm>
          <a:prstGeom prst="can">
            <a:avLst/>
          </a:prstGeom>
          <a:solidFill>
            <a:srgbClr val="CF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614160" y="2450592"/>
            <a:ext cx="2103120" cy="1463040"/>
          </a:xfrm>
          <a:prstGeom prst="rect">
            <a:avLst/>
          </a:prstGeom>
          <a:solidFill>
            <a:srgbClr val="F0F2F4"/>
          </a:solidFill>
          <a:ln w="9525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705600" y="2496312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027"/>
                </a:solidFill>
              </a:rPr>
              <a:t>ViT / EfficientNet
Stage 1 → Stage 2
Checkpoints + nameslist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784080" y="1261872"/>
            <a:ext cx="2103120" cy="1051560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4
Identify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784080" y="2450592"/>
            <a:ext cx="2103120" cy="1463040"/>
          </a:xfrm>
          <a:prstGeom prst="rect">
            <a:avLst/>
          </a:prstGeom>
          <a:solidFill>
            <a:srgbClr val="F0F2F4"/>
          </a:solidFill>
          <a:ln w="9525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875520" y="2496312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027"/>
                </a:solidFill>
              </a:rPr>
              <a:t>Run inference
predictions.csv
Sort indets / flags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4142232"/>
            <a:ext cx="11640312" cy="502920"/>
          </a:xfrm>
          <a:prstGeom prst="rect">
            <a:avLst/>
          </a:prstGeom>
          <a:solidFill>
            <a:srgbClr val="E0F2F1"/>
          </a:solidFill>
          <a:ln w="9525">
            <a:solidFill>
              <a:srgbClr val="80C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7200" y="4187952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695C"/>
                </a:solidFill>
              </a:rPr>
              <a:t>specsin.csv  —  the project's metadata backbone: one row per specimen, updated at each stage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" y="487375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55A64"/>
                </a:solidFill>
              </a:rPr>
              <a:t>Persistent file layout under  &lt;ProjectsRoot&gt;/&lt;ProjectName&gt;/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" y="5239512"/>
            <a:ext cx="7772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455A64"/>
                </a:solidFill>
              </a:rPr>
              <a:t>• images_cropped/   —  downloaded + filtered images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55A64"/>
                </a:solidFill>
              </a:rPr>
              <a:t>• runs/checkpoints/   —  model weights (.ckpt) + nameslist.json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55A64"/>
                </a:solidFill>
              </a:rPr>
              <a:t>• review/predictions.csv   —  inference results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41148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3716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Step 0 — Project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13232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0CBC4"/>
                </a:solidFill>
              </a:rPr>
              <a:t>Configure before running any pipeline stage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6528816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55A64"/>
                </a:solidFill>
              </a:rPr>
              <a:t>Herbarium Classification Pipeline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261872"/>
            <a:ext cx="11430000" cy="548640"/>
          </a:xfrm>
          <a:prstGeom prst="rect">
            <a:avLst/>
          </a:prstGeom>
          <a:solidFill>
            <a:srgbClr val="F0F2F4"/>
          </a:solidFill>
          <a:ln w="9525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335024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027"/>
                </a:solidFill>
              </a:rPr>
              <a:t>Projects root: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20240" y="1353312"/>
            <a:ext cx="292608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011680" y="1371600"/>
            <a:ext cx="2743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027"/>
                </a:solidFill>
              </a:rPr>
              <a:t>C:\AIProjects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1335024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027"/>
                </a:solidFill>
              </a:rPr>
              <a:t>Project name: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353312"/>
            <a:ext cx="164592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0" y="1371600"/>
            <a:ext cx="1463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027"/>
                </a:solidFill>
              </a:rPr>
              <a:t>Ebenaceae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95360" y="1353312"/>
            <a:ext cx="1280160" cy="347472"/>
          </a:xfrm>
          <a:prstGeom prst="round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0">
                <a:solidFill>
                  <a:srgbClr val="FFFFFF"/>
                </a:solidFill>
              </a:rPr>
              <a:t>Apply paths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1920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55A64"/>
                </a:solidFill>
              </a:rPr>
              <a:t>↑  The header bar is always visible — set these first, then click Apply paths.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359152"/>
            <a:ext cx="2743200" cy="2286000"/>
          </a:xfrm>
          <a:prstGeom prst="rect">
            <a:avLst/>
          </a:prstGeom>
          <a:solidFill>
            <a:srgbClr val="E0F2F1"/>
          </a:solidFill>
          <a:ln w="19050">
            <a:solidFill>
              <a:srgbClr val="006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245059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695C"/>
                </a:solidFill>
              </a:rPr>
              <a:t>Projects root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2816352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027"/>
                </a:solidFill>
              </a:rPr>
              <a:t>Parent folder that holds all your projects.
Example:  C:\AIProjects  or  D:\herbarium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91840" y="2359152"/>
            <a:ext cx="2743200" cy="2286000"/>
          </a:xfrm>
          <a:prstGeom prst="rect">
            <a:avLst/>
          </a:prstGeom>
          <a:solidFill>
            <a:srgbClr val="E0F2F1"/>
          </a:solidFill>
          <a:ln w="19050">
            <a:solidFill>
              <a:srgbClr val="006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429000" y="245059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695C"/>
                </a:solidFill>
              </a:rPr>
              <a:t>Project name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29000" y="2816352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027"/>
                </a:solidFill>
              </a:rPr>
              <a:t>Sub-folder name for this taxon run.
Example:  Ebenaceae
All outputs land in  &lt;root&gt;/&lt;name&gt;/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2359152"/>
            <a:ext cx="2743200" cy="2286000"/>
          </a:xfrm>
          <a:prstGeom prst="rect">
            <a:avLst/>
          </a:prstGeom>
          <a:solidFill>
            <a:srgbClr val="B3E5FC"/>
          </a:solidFill>
          <a:ln w="19050">
            <a:solidFill>
              <a:srgbClr val="015F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55080" y="245059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15F9B"/>
                </a:solidFill>
              </a:rPr>
              <a:t>Image folder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2816352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027"/>
                </a:solidFill>
              </a:rPr>
              <a:t>Which image sub-folder to use.
Default:  images_cropped
Changed automatically by Apply paths.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0" y="2359152"/>
            <a:ext cx="2743200" cy="2286000"/>
          </a:xfrm>
          <a:prstGeom prst="rect">
            <a:avLst/>
          </a:prstGeom>
          <a:solidFill>
            <a:srgbClr val="C8E6C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281160" y="245059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</a:rPr>
              <a:t>Apply paths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81160" y="2816352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027"/>
                </a:solidFill>
              </a:rPr>
              <a:t>One click fills every stage's
input/output paths correctly.
Do this first after naming the project.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8737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695C"/>
                </a:solidFill>
              </a:rPr>
              <a:t>Active model  (header card below the tabs)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23951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1A2027"/>
                </a:solidFill>
              </a:rPr>
              <a:t>• Paste or browse to the .ckpt checkpoint file once training is complete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2027"/>
                </a:solidFill>
              </a:rPr>
              <a:t>• Used by Quick ID (drag-and-drop single-image identification) and the Identify tab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41148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3716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Stage 1 — Download from GBIF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13232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0CBC4"/>
                </a:solidFill>
              </a:rPr>
              <a:t>Queries the Global Biodiversity Information Facility API and fetches specimen images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6528816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55A64"/>
                </a:solidFill>
              </a:rPr>
              <a:t>Herbarium Classification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26187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695C"/>
                </a:solidFill>
              </a:rPr>
              <a:t>Key settings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673352"/>
            <a:ext cx="5120640" cy="749808"/>
          </a:xfrm>
          <a:prstGeom prst="rect">
            <a:avLst/>
          </a:prstGeom>
          <a:solidFill>
            <a:srgbClr val="F0F2F4"/>
          </a:solidFill>
          <a:ln w="9525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728216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695C"/>
                </a:solidFill>
              </a:rPr>
              <a:t>Taxon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1728216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027"/>
                </a:solidFill>
              </a:rPr>
              <a:t>Family, Genus, or Order name
(e.g. Ebenaceae, Diospyros, Ericales)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514600"/>
            <a:ext cx="5120640" cy="749808"/>
          </a:xfrm>
          <a:prstGeom prst="rect">
            <a:avLst/>
          </a:prstGeom>
          <a:solidFill>
            <a:srgbClr val="F0F2F4"/>
          </a:solidFill>
          <a:ln w="9525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2569464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695C"/>
                </a:solidFill>
              </a:rPr>
              <a:t>Geographic filter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2569464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027"/>
                </a:solidFill>
              </a:rPr>
              <a:t>Continent, country, or bounding box
Leave blank for worldwide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355848"/>
            <a:ext cx="5120640" cy="749808"/>
          </a:xfrm>
          <a:prstGeom prst="rect">
            <a:avLst/>
          </a:prstGeom>
          <a:solidFill>
            <a:srgbClr val="F0F2F4"/>
          </a:solidFill>
          <a:ln w="9525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" y="3410712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695C"/>
                </a:solidFill>
              </a:rPr>
              <a:t>specsin.csv path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3410712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027"/>
                </a:solidFill>
              </a:rPr>
              <a:t>Output metadata file — created fresh or
appended if it already exists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197096"/>
            <a:ext cx="5120640" cy="749808"/>
          </a:xfrm>
          <a:prstGeom prst="rect">
            <a:avLst/>
          </a:prstGeom>
          <a:solidFill>
            <a:srgbClr val="F0F2F4"/>
          </a:solidFill>
          <a:ln w="9525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2920" y="4251960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695C"/>
                </a:solidFill>
              </a:rPr>
              <a:t>Output images dir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94560" y="425196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027"/>
                </a:solidFill>
              </a:rPr>
              <a:t>Where downloaded images are saved
(auto-filled by Apply paths)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038344"/>
            <a:ext cx="5120640" cy="749808"/>
          </a:xfrm>
          <a:prstGeom prst="rect">
            <a:avLst/>
          </a:prstGeom>
          <a:solidFill>
            <a:srgbClr val="F0F2F4"/>
          </a:solidFill>
          <a:ln w="9525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2920" y="5093208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695C"/>
                </a:solidFill>
              </a:rPr>
              <a:t>Limit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4560" y="5093208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027"/>
                </a:solidFill>
              </a:rPr>
              <a:t>Max images to download (leave blank
for full dataset — can be millions)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1261872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695C"/>
                </a:solidFill>
              </a:rPr>
              <a:t>What Download produces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35040" y="1673352"/>
            <a:ext cx="2011680" cy="91440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>
                <a:solidFill>
                  <a:srgbClr val="FFFFFF"/>
                </a:solidFill>
              </a:rPr>
              <a:t>GBIF API
gbif.org</a:t>
            </a:r>
          </a:p>
        </p:txBody>
      </p:sp>
      <p:sp>
        <p:nvSpPr>
          <p:cNvPr id="26" name="Down Arrow 25"/>
          <p:cNvSpPr/>
          <p:nvPr/>
        </p:nvSpPr>
        <p:spPr>
          <a:xfrm>
            <a:off x="6912864" y="2587752"/>
            <a:ext cx="256032" cy="548640"/>
          </a:xfrm>
          <a:prstGeom prst="downArrow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095744" y="275234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55A64"/>
                </a:solidFill>
              </a:rPr>
              <a:t>HTTP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035040" y="3182112"/>
            <a:ext cx="2011680" cy="914400"/>
          </a:xfrm>
          <a:prstGeom prst="round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0">
                <a:solidFill>
                  <a:srgbClr val="FFFFFF"/>
                </a:solidFill>
              </a:rPr>
              <a:t>specsin.csv
(one row per specimen)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12480" y="3182112"/>
            <a:ext cx="2560320" cy="914400"/>
          </a:xfrm>
          <a:prstGeom prst="round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0">
                <a:solidFill>
                  <a:srgbClr val="FFFFFF"/>
                </a:solidFill>
              </a:rPr>
              <a:t>images_cropped/
(JPEGs on disk)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0" y="4370832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55A64"/>
                </a:solidFill>
              </a:rPr>
              <a:t>specsin.csv columns added at download: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0" y="4736592"/>
            <a:ext cx="5943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455A64"/>
                </a:solidFill>
              </a:rPr>
              <a:t>• catalogNumber, species, family, genus, verbatimName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55A64"/>
                </a:solidFill>
              </a:rPr>
              <a:t>• decimalLatitude, decimalLongitude, countryCode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55A64"/>
                </a:solidFill>
              </a:rPr>
              <a:t>• gbifID, image_url, fname, hasfile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41148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3716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Stage 2 — Filter &amp; Crop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13232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0CBC4"/>
                </a:solidFill>
              </a:rPr>
              <a:t>Removes non-herbarium images and crops dark scanner borders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6528816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55A64"/>
                </a:solidFill>
              </a:rPr>
              <a:t>Herbarium Classification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21615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695C"/>
                </a:solidFill>
              </a:rPr>
              <a:t>What gets removed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627632"/>
            <a:ext cx="1828800" cy="548640"/>
          </a:xfrm>
          <a:prstGeom prst="round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>
                <a:solidFill>
                  <a:srgbClr val="C62828"/>
                </a:solidFill>
              </a:rPr>
              <a:t>🌿 Field photos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1737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027"/>
                </a:solidFill>
              </a:rPr>
              <a:t>Living-plant photographs taken in the field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359152"/>
            <a:ext cx="1828800" cy="548640"/>
          </a:xfrm>
          <a:prstGeom prst="round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>
                <a:solidFill>
                  <a:srgbClr val="C62828"/>
                </a:solidFill>
              </a:rPr>
              <a:t>🔬 Slides / close-ups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2468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027"/>
                </a:solidFill>
              </a:rPr>
              <a:t>Microscope slides and detail scans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3090672"/>
            <a:ext cx="1828800" cy="548640"/>
          </a:xfrm>
          <a:prstGeom prst="round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>
                <a:solidFill>
                  <a:srgbClr val="C62828"/>
                </a:solidFill>
              </a:rPr>
              <a:t>📄 Label-only scans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20" y="3200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027"/>
                </a:solidFill>
              </a:rPr>
              <a:t>Pages with no specimen material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3822192"/>
            <a:ext cx="1828800" cy="548640"/>
          </a:xfrm>
          <a:prstGeom prst="round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>
                <a:solidFill>
                  <a:srgbClr val="C62828"/>
                </a:solidFill>
              </a:rPr>
              <a:t>🖼 Low-quality images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31720" y="3931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027"/>
                </a:solidFill>
              </a:rPr>
              <a:t>Very dark, blurred, or tiny thumbnails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423367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695C"/>
                </a:solidFill>
              </a:rPr>
              <a:t>Two filter methods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4599432"/>
            <a:ext cx="2468880" cy="1828800"/>
          </a:xfrm>
          <a:prstGeom prst="roundRect">
            <a:avLst/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0">
                <a:solidFill>
                  <a:srgbClr val="1A2027"/>
                </a:solidFill>
              </a:rPr>
              <a:t>CLIP  (default)
Zero-shot image classification
using a vision-language model
✓ Best accuracy
✗ Requires GPU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017520" y="4599432"/>
            <a:ext cx="2468880" cy="1828800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0">
                <a:solidFill>
                  <a:srgbClr val="1A2027"/>
                </a:solidFill>
              </a:rPr>
              <a:t>HSV heuristic
Colour-space analysis
for sheet-white backgrounds
✓ CPU-only, fast
✗ Misses coloured mounts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1216152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695C"/>
                </a:solidFill>
              </a:rPr>
              <a:t>Border cropping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1627632"/>
            <a:ext cx="2560320" cy="2560320"/>
          </a:xfrm>
          <a:prstGeom prst="rect">
            <a:avLst/>
          </a:prstGeom>
          <a:solidFill>
            <a:srgbClr val="1A2027"/>
          </a:solidFill>
          <a:ln w="9525">
            <a:solidFill>
              <a:srgbClr val="45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583680" y="1993392"/>
            <a:ext cx="182880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217920" y="4233672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55A64"/>
                </a:solidFill>
              </a:rPr>
              <a:t>Before
(dark scanner border)</a:t>
            </a:r>
          </a:p>
        </p:txBody>
      </p:sp>
      <p:sp>
        <p:nvSpPr>
          <p:cNvPr id="24" name="Can 23"/>
          <p:cNvSpPr/>
          <p:nvPr/>
        </p:nvSpPr>
        <p:spPr>
          <a:xfrm>
            <a:off x="8915400" y="2779776"/>
            <a:ext cx="822960" cy="256032"/>
          </a:xfrm>
          <a:prstGeom prst="can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875520" y="1993392"/>
            <a:ext cx="182880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646920" y="4233672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55A64"/>
                </a:solidFill>
              </a:rPr>
              <a:t>After
(borders removed)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4965192"/>
            <a:ext cx="5760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55A64"/>
                </a:solidFill>
              </a:rPr>
              <a:t>Rejected images are moved to  images_cropped/rejected/  (field photos → live/)
not deleted — you can inspect and recover them.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6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37160"/>
            <a:ext cx="11338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</a:rPr>
              <a:t>Handling the Long Tail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13232"/>
            <a:ext cx="11338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0" i="0">
                <a:solidFill>
                  <a:srgbClr val="80CBC4"/>
                </a:solidFill>
              </a:rPr>
              <a:t>Most taxa are rare — fix the imbalance in the data, not in the loss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F0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28816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0" i="0">
                <a:solidFill>
                  <a:srgbClr val="455A64"/>
                </a:solidFill>
              </a:rPr>
              <a:t>Herbarium Classification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188720"/>
            <a:ext cx="56692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0695C"/>
                </a:solidFill>
              </a:rPr>
              <a:t>The shape of the data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627632"/>
            <a:ext cx="182880" cy="2962655"/>
          </a:xfrm>
          <a:prstGeom prst="rect">
            <a:avLst/>
          </a:prstGeom>
          <a:solidFill>
            <a:srgbClr val="E0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2879797"/>
            <a:ext cx="182880" cy="1710490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9127" y="2195601"/>
            <a:ext cx="182880" cy="2394686"/>
          </a:xfrm>
          <a:prstGeom prst="rect">
            <a:avLst/>
          </a:prstGeom>
          <a:solidFill>
            <a:srgbClr val="E0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89127" y="2879797"/>
            <a:ext cx="182880" cy="1710490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11326" y="2566408"/>
            <a:ext cx="182880" cy="2023879"/>
          </a:xfrm>
          <a:prstGeom prst="rect">
            <a:avLst/>
          </a:prstGeom>
          <a:solidFill>
            <a:srgbClr val="E0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11326" y="2879797"/>
            <a:ext cx="182880" cy="1710490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33525" y="2812694"/>
            <a:ext cx="182880" cy="1777593"/>
          </a:xfrm>
          <a:prstGeom prst="rect">
            <a:avLst/>
          </a:prstGeom>
          <a:solidFill>
            <a:srgbClr val="E0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233525" y="2879797"/>
            <a:ext cx="182880" cy="1710490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455724" y="3004044"/>
            <a:ext cx="182880" cy="1586243"/>
          </a:xfrm>
          <a:prstGeom prst="rect">
            <a:avLst/>
          </a:prstGeom>
          <a:solidFill>
            <a:srgbClr val="E0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455724" y="3004044"/>
            <a:ext cx="182880" cy="1586243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677924" y="3159189"/>
            <a:ext cx="182880" cy="1431098"/>
          </a:xfrm>
          <a:prstGeom prst="rect">
            <a:avLst/>
          </a:prstGeom>
          <a:solidFill>
            <a:srgbClr val="E0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677924" y="3159189"/>
            <a:ext cx="182880" cy="1431098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900123" y="3298896"/>
            <a:ext cx="182880" cy="1291391"/>
          </a:xfrm>
          <a:prstGeom prst="rect">
            <a:avLst/>
          </a:prstGeom>
          <a:solidFill>
            <a:srgbClr val="E0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900123" y="3298896"/>
            <a:ext cx="182880" cy="1291391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122322" y="3417634"/>
            <a:ext cx="182880" cy="1172653"/>
          </a:xfrm>
          <a:prstGeom prst="rect">
            <a:avLst/>
          </a:prstGeom>
          <a:solidFill>
            <a:srgbClr val="E0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122322" y="3417634"/>
            <a:ext cx="182880" cy="1172653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344521" y="3522087"/>
            <a:ext cx="182880" cy="1068200"/>
          </a:xfrm>
          <a:prstGeom prst="rect">
            <a:avLst/>
          </a:prstGeom>
          <a:solidFill>
            <a:srgbClr val="E0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344521" y="3522087"/>
            <a:ext cx="182880" cy="1068200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566720" y="3622688"/>
            <a:ext cx="182880" cy="967599"/>
          </a:xfrm>
          <a:prstGeom prst="rect">
            <a:avLst/>
          </a:prstGeom>
          <a:solidFill>
            <a:srgbClr val="E0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566720" y="3622688"/>
            <a:ext cx="182880" cy="967599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788920" y="3711422"/>
            <a:ext cx="182880" cy="878865"/>
          </a:xfrm>
          <a:prstGeom prst="rect">
            <a:avLst/>
          </a:prstGeom>
          <a:solidFill>
            <a:srgbClr val="E0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788920" y="3711422"/>
            <a:ext cx="182880" cy="878865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011119" y="3795323"/>
            <a:ext cx="182880" cy="794964"/>
          </a:xfrm>
          <a:prstGeom prst="rect">
            <a:avLst/>
          </a:prstGeom>
          <a:solidFill>
            <a:srgbClr val="E0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011119" y="3795323"/>
            <a:ext cx="182880" cy="794964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233318" y="3872697"/>
            <a:ext cx="182880" cy="717590"/>
          </a:xfrm>
          <a:prstGeom prst="rect">
            <a:avLst/>
          </a:prstGeom>
          <a:solidFill>
            <a:srgbClr val="E0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233318" y="3872697"/>
            <a:ext cx="182880" cy="717590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455517" y="3945725"/>
            <a:ext cx="182880" cy="644562"/>
          </a:xfrm>
          <a:prstGeom prst="rect">
            <a:avLst/>
          </a:prstGeom>
          <a:solidFill>
            <a:srgbClr val="E0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455517" y="3945725"/>
            <a:ext cx="182880" cy="644562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677716" y="4012760"/>
            <a:ext cx="182880" cy="577527"/>
          </a:xfrm>
          <a:prstGeom prst="rect">
            <a:avLst/>
          </a:prstGeom>
          <a:solidFill>
            <a:srgbClr val="E0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677716" y="4012760"/>
            <a:ext cx="182880" cy="577527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899915" y="4077140"/>
            <a:ext cx="182880" cy="513147"/>
          </a:xfrm>
          <a:prstGeom prst="rect">
            <a:avLst/>
          </a:prstGeom>
          <a:solidFill>
            <a:srgbClr val="E0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899915" y="4077140"/>
            <a:ext cx="182880" cy="513147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122115" y="4137734"/>
            <a:ext cx="182880" cy="452553"/>
          </a:xfrm>
          <a:prstGeom prst="rect">
            <a:avLst/>
          </a:prstGeom>
          <a:solidFill>
            <a:srgbClr val="E0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122115" y="4137734"/>
            <a:ext cx="182880" cy="452553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344314" y="4192805"/>
            <a:ext cx="182880" cy="397482"/>
          </a:xfrm>
          <a:prstGeom prst="rect">
            <a:avLst/>
          </a:prstGeom>
          <a:solidFill>
            <a:srgbClr val="E0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344314" y="4192805"/>
            <a:ext cx="182880" cy="397482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566513" y="4239741"/>
            <a:ext cx="182880" cy="350546"/>
          </a:xfrm>
          <a:prstGeom prst="rect">
            <a:avLst/>
          </a:prstGeom>
          <a:solidFill>
            <a:srgbClr val="E0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566513" y="4239741"/>
            <a:ext cx="182880" cy="350546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788712" y="4284306"/>
            <a:ext cx="182880" cy="305981"/>
          </a:xfrm>
          <a:prstGeom prst="rect">
            <a:avLst/>
          </a:prstGeom>
          <a:solidFill>
            <a:srgbClr val="E0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788712" y="4284306"/>
            <a:ext cx="182880" cy="305981"/>
          </a:xfrm>
          <a:prstGeom prst="rect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010912" y="4325299"/>
            <a:ext cx="182880" cy="264988"/>
          </a:xfrm>
          <a:prstGeom prst="rect">
            <a:avLst/>
          </a:prstGeom>
          <a:solidFill>
            <a:srgbClr val="E0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010912" y="4325299"/>
            <a:ext cx="182880" cy="264988"/>
          </a:xfrm>
          <a:prstGeom prst="rect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233111" y="4360801"/>
            <a:ext cx="182880" cy="229486"/>
          </a:xfrm>
          <a:prstGeom prst="rect">
            <a:avLst/>
          </a:prstGeom>
          <a:solidFill>
            <a:srgbClr val="E0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233111" y="4360801"/>
            <a:ext cx="182880" cy="229486"/>
          </a:xfrm>
          <a:prstGeom prst="rect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455310" y="4402913"/>
            <a:ext cx="182880" cy="187374"/>
          </a:xfrm>
          <a:prstGeom prst="rect">
            <a:avLst/>
          </a:prstGeom>
          <a:solidFill>
            <a:srgbClr val="E0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455310" y="4402913"/>
            <a:ext cx="182880" cy="187374"/>
          </a:xfrm>
          <a:prstGeom prst="rect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677509" y="4437297"/>
            <a:ext cx="182880" cy="152990"/>
          </a:xfrm>
          <a:prstGeom prst="rect">
            <a:avLst/>
          </a:prstGeom>
          <a:solidFill>
            <a:srgbClr val="E0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677509" y="4437297"/>
            <a:ext cx="182880" cy="152990"/>
          </a:xfrm>
          <a:prstGeom prst="rect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12064" y="2879797"/>
            <a:ext cx="5403189" cy="22860"/>
          </a:xfrm>
          <a:prstGeom prst="rect">
            <a:avLst/>
          </a:prstGeom>
          <a:solidFill>
            <a:srgbClr val="015F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12064" y="4248189"/>
            <a:ext cx="5403189" cy="22860"/>
          </a:xfrm>
          <a:prstGeom prst="rect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12064" y="4590288"/>
            <a:ext cx="5403189" cy="18288"/>
          </a:xfrm>
          <a:prstGeom prst="rect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66928" y="4828032"/>
            <a:ext cx="182880" cy="118872"/>
          </a:xfrm>
          <a:prstGeom prst="rect">
            <a:avLst/>
          </a:prstGeom>
          <a:solidFill>
            <a:srgbClr val="015F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22960" y="4773168"/>
            <a:ext cx="52120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1" i="0">
                <a:solidFill>
                  <a:srgbClr val="455A64"/>
                </a:solidFill>
              </a:rPr>
              <a:t>cap 500</a:t>
            </a:r>
            <a:r>
              <a:rPr sz="1000" b="0" i="0">
                <a:solidFill>
                  <a:srgbClr val="455A64"/>
                </a:solidFill>
              </a:rPr>
              <a:t> — commonest classes trimmed, sampled round-robin down the rank, so morphological breadth survives.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66928" y="5230368"/>
            <a:ext cx="182880" cy="118872"/>
          </a:xfrm>
          <a:prstGeom prst="rect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22960" y="5175504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1" i="0">
                <a:solidFill>
                  <a:srgbClr val="455A64"/>
                </a:solidFill>
              </a:rPr>
              <a:t>floor 20</a:t>
            </a:r>
            <a:r>
              <a:rPr sz="1000" b="0" i="0">
                <a:solidFill>
                  <a:srgbClr val="455A64"/>
                </a:solidFill>
              </a:rPr>
              <a:t> — 1,294 taxa too sparse to learn, excluded. Listed in excluded_species.json — and they become the novelty benchmark.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66928" y="5779008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0" i="0">
                <a:solidFill>
                  <a:srgbClr val="455A64"/>
                </a:solidFill>
              </a:rPr>
              <a:t>Species ranked by image count (schematic). Rubiaceae: 1,341 species kept, imbalance 10.6× after the cap.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355080" y="1188720"/>
            <a:ext cx="546811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0695C"/>
                </a:solidFill>
              </a:rPr>
              <a:t>Two levers — both applied to the data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355080" y="1572768"/>
            <a:ext cx="5468112" cy="1024128"/>
          </a:xfrm>
          <a:prstGeom prst="rect">
            <a:avLst/>
          </a:prstGeom>
          <a:solidFill>
            <a:srgbClr val="E0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492240" y="1682495"/>
            <a:ext cx="519379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1" i="0">
                <a:solidFill>
                  <a:srgbClr val="00695C"/>
                </a:solidFill>
              </a:rPr>
              <a:t>Sparse floor   --sparse-threshold 20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92240" y="1975104"/>
            <a:ext cx="5193792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0" i="0">
                <a:solidFill>
                  <a:srgbClr val="1A2027"/>
                </a:solidFill>
              </a:rPr>
              <a:t>A five-image class cannot be learned; it only steals predictions from classes that can. Dropped taxa stay in the metadata.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355080" y="2706624"/>
            <a:ext cx="5468112" cy="1024128"/>
          </a:xfrm>
          <a:prstGeom prst="rect">
            <a:avLst/>
          </a:prstGeom>
          <a:solidFill>
            <a:srgbClr val="E0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492240" y="2816352"/>
            <a:ext cx="519379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1" i="0">
                <a:solidFill>
                  <a:srgbClr val="00695C"/>
                </a:solidFill>
              </a:rPr>
              <a:t>Per-class cap   --max-per-class 500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492240" y="3108960"/>
            <a:ext cx="5193792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0" i="0">
                <a:solidFill>
                  <a:srgbClr val="1A2027"/>
                </a:solidFill>
              </a:rPr>
              <a:t>Trims the commonest classes rather than inflating the rarest. Epochs get proportionally faster, and no logit is touched.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355080" y="3931920"/>
            <a:ext cx="546811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C62828"/>
                </a:solidFill>
              </a:rPr>
              <a:t>The trap: do not weight the loss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355080" y="4315968"/>
            <a:ext cx="5468112" cy="1554480"/>
          </a:xfrm>
          <a:prstGeom prst="rect">
            <a:avLst/>
          </a:prstGeom>
          <a:solidFill>
            <a:srgbClr val="FF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492240" y="4425696"/>
            <a:ext cx="519379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1" i="0">
                <a:solidFill>
                  <a:srgbClr val="C62828"/>
                </a:solidFill>
              </a:rPr>
              <a:t>Inverse-frequency class weights   --class-weight-beta 0 (off)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492240" y="4718304"/>
            <a:ext cx="5193792" cy="10424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0" i="0">
                <a:solidFill>
                  <a:srgbClr val="1A2027"/>
                </a:solidFill>
              </a:rPr>
              <a:t>Weighted cross-entropy biases the logits directly. On Rubiaceae the spread reached 2,210×: genera with five images out-predicted </a:t>
            </a:r>
            <a:r>
              <a:rPr sz="1100" b="0" i="1">
                <a:solidFill>
                  <a:srgbClr val="1A2027"/>
                </a:solidFill>
              </a:rPr>
              <a:t>Psychotria</a:t>
            </a:r>
            <a:r>
              <a:rPr sz="1100" b="0" i="0">
                <a:solidFill>
                  <a:srgbClr val="1A2027"/>
                </a:solidFill>
              </a:rPr>
              <a:t>, the commonest genus, whose recall collapsed to 11.2 %.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1A2027"/>
                </a:solidFill>
              </a:rPr>
              <a:t>Removing the weights restored it to 99.7 %. For a rare-taxon boost, adjust at inference instead:  identify --logit-adjust TAU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65760" y="6053328"/>
            <a:ext cx="114300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1" i="0">
                <a:solidFill>
                  <a:srgbClr val="455A64"/>
                </a:solidFill>
              </a:rPr>
              <a:t>The tell — </a:t>
            </a:r>
            <a:r>
              <a:rPr sz="1100" b="0" i="0">
                <a:solidFill>
                  <a:srgbClr val="455A64"/>
                </a:solidFill>
              </a:rPr>
              <a:t>overall accuracy will not warn you: it still read 87.2 % while Psychotria was broken. Look at the confusion table. If it is a ranked list of your rarest classes, the loss is weighted.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41148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3716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Stage 3 — Train the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13232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0CBC4"/>
                </a:solidFill>
              </a:rPr>
              <a:t>Multi-stage fine-tuning of a pretrained vision model on your labelled herbarium images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6528816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55A64"/>
                </a:solidFill>
              </a:rPr>
              <a:t>Herbarium Classification Pipeline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216152"/>
            <a:ext cx="3474720" cy="685800"/>
          </a:xfrm>
          <a:prstGeom prst="round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Stage 1
Warm-up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947672"/>
            <a:ext cx="3474720" cy="1005840"/>
          </a:xfrm>
          <a:prstGeom prst="rect">
            <a:avLst/>
          </a:prstGeom>
          <a:solidFill>
            <a:srgbClr val="F0F2F4"/>
          </a:solidFill>
          <a:ln w="9525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993392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027"/>
                </a:solidFill>
              </a:rPr>
              <a:t>Backbone frozen
Head only  ·  4 epochs
LR ~ 0.005</a:t>
            </a:r>
          </a:p>
        </p:txBody>
      </p:sp>
      <p:sp>
        <p:nvSpPr>
          <p:cNvPr id="11" name="Can 10"/>
          <p:cNvSpPr/>
          <p:nvPr/>
        </p:nvSpPr>
        <p:spPr>
          <a:xfrm>
            <a:off x="3840480" y="1426464"/>
            <a:ext cx="365760" cy="256032"/>
          </a:xfrm>
          <a:prstGeom prst="can">
            <a:avLst/>
          </a:prstGeom>
          <a:solidFill>
            <a:srgbClr val="80C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206240" y="1216152"/>
            <a:ext cx="3474720" cy="685800"/>
          </a:xfrm>
          <a:prstGeom prst="round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Stage 2
Fine-tune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1947672"/>
            <a:ext cx="3474720" cy="1005840"/>
          </a:xfrm>
          <a:prstGeom prst="rect">
            <a:avLst/>
          </a:prstGeom>
          <a:solidFill>
            <a:srgbClr val="F0F2F4"/>
          </a:solidFill>
          <a:ln w="9525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97680" y="1993392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027"/>
                </a:solidFill>
              </a:rPr>
              <a:t>All layers train
6–10 epochs · early stop
LR ~ 0.0001</a:t>
            </a:r>
          </a:p>
        </p:txBody>
      </p:sp>
      <p:sp>
        <p:nvSpPr>
          <p:cNvPr id="15" name="Can 14"/>
          <p:cNvSpPr/>
          <p:nvPr/>
        </p:nvSpPr>
        <p:spPr>
          <a:xfrm>
            <a:off x="7680960" y="1426464"/>
            <a:ext cx="365760" cy="256032"/>
          </a:xfrm>
          <a:prstGeom prst="can">
            <a:avLst/>
          </a:prstGeom>
          <a:solidFill>
            <a:srgbClr val="80C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046720" y="1216152"/>
            <a:ext cx="3474720" cy="685800"/>
          </a:xfrm>
          <a:prstGeom prst="roundRect">
            <a:avLst/>
          </a:prstGeom>
          <a:solidFill>
            <a:srgbClr val="015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Cool-down
(optional)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0" y="1947672"/>
            <a:ext cx="3474720" cy="1005840"/>
          </a:xfrm>
          <a:prstGeom prst="rect">
            <a:avLst/>
          </a:prstGeom>
          <a:solidFill>
            <a:srgbClr val="F0F2F4"/>
          </a:solidFill>
          <a:ln w="9525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38160" y="1993392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027"/>
                </a:solidFill>
              </a:rPr>
              <a:t>Reduced batch + LR
Final polishing
Saves best-cd.ckpt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318211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695C"/>
                </a:solidFill>
              </a:rPr>
              <a:t>Key hyperparameters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593592"/>
            <a:ext cx="2743200" cy="1920240"/>
          </a:xfrm>
          <a:prstGeom prst="rect">
            <a:avLst/>
          </a:prstGeom>
          <a:solidFill>
            <a:srgbClr val="E0F2F1"/>
          </a:solidFill>
          <a:ln w="9525">
            <a:solidFill>
              <a:srgbClr val="80C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" y="36576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695C"/>
                </a:solidFill>
              </a:rPr>
              <a:t>Model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096512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027"/>
                </a:solidFill>
              </a:rPr>
              <a:t>vit_large_patch16_dinov3
(default)
or efficientnet_b4 for speed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91840" y="3593592"/>
            <a:ext cx="2743200" cy="1920240"/>
          </a:xfrm>
          <a:prstGeom prst="rect">
            <a:avLst/>
          </a:prstGeom>
          <a:solidFill>
            <a:srgbClr val="E0F2F1"/>
          </a:solidFill>
          <a:ln w="9525">
            <a:solidFill>
              <a:srgbClr val="80C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383280" y="36576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695C"/>
                </a:solidFill>
              </a:rPr>
              <a:t>Image size
--image-sz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83280" y="4096512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027"/>
                </a:solidFill>
              </a:rPr>
              <a:t>640 px  (default)
768 for highest accuracy
512 for low VRAM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3593592"/>
            <a:ext cx="2743200" cy="1920240"/>
          </a:xfrm>
          <a:prstGeom prst="rect">
            <a:avLst/>
          </a:prstGeom>
          <a:solidFill>
            <a:srgbClr val="E0F2F1"/>
          </a:solidFill>
          <a:ln w="9525">
            <a:solidFill>
              <a:srgbClr val="80C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09360" y="36576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695C"/>
                </a:solidFill>
              </a:rPr>
              <a:t>Batch size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4096512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027"/>
                </a:solidFill>
              </a:rPr>
              <a:t>15–30 at 640 px
on a 48 GB card
Increase --grad-accum if reduced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0" y="3593592"/>
            <a:ext cx="2743200" cy="1920240"/>
          </a:xfrm>
          <a:prstGeom prst="rect">
            <a:avLst/>
          </a:prstGeom>
          <a:solidFill>
            <a:srgbClr val="E0F2F1"/>
          </a:solidFill>
          <a:ln w="9525">
            <a:solidFill>
              <a:srgbClr val="80C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235440" y="36576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695C"/>
                </a:solidFill>
              </a:rPr>
              <a:t>Stage 2 epochs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35440" y="4096512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027"/>
                </a:solidFill>
              </a:rPr>
              <a:t>Accuracy knee ~6 epochs
Early stop: val_Accuracy
patience 2, min-delta .005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59436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55A64"/>
                </a:solidFill>
              </a:rPr>
              <a:t>Outputs:  runs/checkpoints/last.ckpt  ·  runs/checkpoints/acc-epoch=XX-val_Accuracy=X.ckpt  ·  runs/nameslist.json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41148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3716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Stage 4 — Identify &amp;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13232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0CBC4"/>
                </a:solidFill>
              </a:rPr>
              <a:t>Run inference on your images, inspect results, and correct any mislabelled specimens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6528816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55A64"/>
                </a:solidFill>
              </a:rPr>
              <a:t>Herbarium Classification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21615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695C"/>
                </a:solidFill>
              </a:rPr>
              <a:t>Identify tab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609344"/>
            <a:ext cx="5486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1A2027"/>
                </a:solidFill>
              </a:rPr>
              <a:t>• Point to your checkpoint (.ckpt) and specsin.csv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2027"/>
                </a:solidFill>
              </a:rPr>
              <a:t>• Outputs  review/predictions.csv  with top-5 predictions + confidence per image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2027"/>
                </a:solidFill>
              </a:rPr>
              <a:t>• Flags images where the top prediction differs from the recorded label  (flagged column)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2027"/>
                </a:solidFill>
              </a:rPr>
              <a:t>• Sorts unidentified specimens (indet) by prediction confidence into  review/indets/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216152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695C"/>
                </a:solidFill>
              </a:rPr>
              <a:t>Review tab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609344"/>
            <a:ext cx="5669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1A2027"/>
                </a:solidFill>
              </a:rPr>
              <a:t>• Browse images with their predictions side-by-side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2027"/>
                </a:solidFill>
              </a:rPr>
              <a:t>• Click a prediction to confirm or correct the label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2027"/>
                </a:solidFill>
              </a:rPr>
              <a:t>• Changes saved back to  predictions.csv  in real 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3090672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695C"/>
                </a:solidFill>
              </a:rPr>
              <a:t>Analysis tab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3483864"/>
            <a:ext cx="5669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1A2027"/>
                </a:solidFill>
              </a:rPr>
              <a:t>• Load  predictions.csv  to plot confusion matrix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2027"/>
                </a:solidFill>
              </a:rPr>
              <a:t>• Per-species accuracy, top confusions, recall vs. support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82219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695C"/>
                </a:solidFill>
              </a:rPr>
              <a:t>predictions.csv columns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233672"/>
            <a:ext cx="1298448" cy="365760"/>
          </a:xfrm>
          <a:prstGeom prst="roundRect">
            <a:avLst/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0">
                <a:solidFill>
                  <a:srgbClr val="00695C"/>
                </a:solidFill>
              </a:rPr>
              <a:t>true_species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755648" y="4233672"/>
            <a:ext cx="1298448" cy="365760"/>
          </a:xfrm>
          <a:prstGeom prst="roundRect">
            <a:avLst/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0">
                <a:solidFill>
                  <a:srgbClr val="00695C"/>
                </a:solidFill>
              </a:rPr>
              <a:t>pred_species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45536" y="4233672"/>
            <a:ext cx="1298448" cy="365760"/>
          </a:xfrm>
          <a:prstGeom prst="roundRect">
            <a:avLst/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0">
                <a:solidFill>
                  <a:srgbClr val="00695C"/>
                </a:solidFill>
              </a:rPr>
              <a:t>confidence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35424" y="4233672"/>
            <a:ext cx="1298448" cy="365760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0">
                <a:solidFill>
                  <a:srgbClr val="455A64"/>
                </a:solidFill>
              </a:rPr>
              <a:t>pred_genus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4690872"/>
            <a:ext cx="1298448" cy="365760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0">
                <a:solidFill>
                  <a:srgbClr val="455A64"/>
                </a:solidFill>
              </a:rPr>
              <a:t>genus_conf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755648" y="4690872"/>
            <a:ext cx="1298448" cy="365760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0">
                <a:solidFill>
                  <a:srgbClr val="455A64"/>
                </a:solidFill>
              </a:rPr>
              <a:t>genus_agrees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145536" y="4690872"/>
            <a:ext cx="1298448" cy="365760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0">
                <a:solidFill>
                  <a:srgbClr val="455A64"/>
                </a:solidFill>
              </a:rPr>
              <a:t>flagged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35424" y="4690872"/>
            <a:ext cx="1298448" cy="365760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0">
                <a:solidFill>
                  <a:srgbClr val="455A64"/>
                </a:solidFill>
              </a:rPr>
              <a:t>top1…top5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6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37160"/>
            <a:ext cx="11338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</a:rPr>
              <a:t>Beyond Top-1 — Novelty and Mislabel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13232"/>
            <a:ext cx="11338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0" i="0">
                <a:solidFill>
                  <a:srgbClr val="80CBC4"/>
                </a:solidFill>
              </a:rPr>
              <a:t>Two questions a softmax classifier cannot answer on its own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F0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28816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0" i="0">
                <a:solidFill>
                  <a:srgbClr val="455A64"/>
                </a:solidFill>
              </a:rPr>
              <a:t>Herbarium Classification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188720"/>
            <a:ext cx="56235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0695C"/>
                </a:solidFill>
              </a:rPr>
              <a:t>1 · Is this a taxon the model has never seen?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536192"/>
            <a:ext cx="56235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0" i="0">
                <a:solidFill>
                  <a:srgbClr val="1A2027"/>
                </a:solidFill>
              </a:rPr>
              <a:t>A softmax spreads all of its probability over the classes it was trained on. A novel taxon cannot be rejected — it must be filed somewhere, and it is usually filed confidently.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1A2027"/>
                </a:solidFill>
              </a:rPr>
              <a:t>The sparse floor gives us a free benchmark: the taxa it dropped are, by construction, known-novel and known-labelled.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5760" y="2615184"/>
          <a:ext cx="5623560" cy="132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360"/>
                <a:gridCol w="1371600"/>
                <a:gridCol w="1371600"/>
              </a:tblGrid>
              <a:tr h="33147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novelty score</a:t>
                      </a:r>
                    </a:p>
                  </a:txBody>
                  <a:tcPr marL="73152" marR="73152" marT="27432" marB="27432" anchor="ctr">
                    <a:solidFill>
                      <a:srgbClr val="0069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novel genus</a:t>
                      </a:r>
                    </a:p>
                  </a:txBody>
                  <a:tcPr marL="73152" marR="73152" marT="27432" marB="27432" anchor="ctr">
                    <a:solidFill>
                      <a:srgbClr val="0069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novel species</a:t>
                      </a:r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in known genus</a:t>
                      </a:r>
                    </a:p>
                  </a:txBody>
                  <a:tcPr marL="73152" marR="73152" marT="27432" marB="27432" anchor="ctr">
                    <a:solidFill>
                      <a:srgbClr val="00695C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2027"/>
                          </a:solidFill>
                        </a:rPr>
                        <a:t>MSP + Relative Mahalanobis</a:t>
                      </a:r>
                    </a:p>
                  </a:txBody>
                  <a:tcPr marL="73152" marR="73152" marT="27432" marB="27432" anchor="ctr">
                    <a:solidFill>
                      <a:srgbClr val="E0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A2027"/>
                          </a:solidFill>
                        </a:rPr>
                        <a:t>0.900</a:t>
                      </a:r>
                    </a:p>
                  </a:txBody>
                  <a:tcPr marL="73152" marR="73152" marT="27432" marB="27432" anchor="ctr">
                    <a:solidFill>
                      <a:srgbClr val="E0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A2027"/>
                          </a:solidFill>
                        </a:rPr>
                        <a:t>0.871</a:t>
                      </a:r>
                    </a:p>
                  </a:txBody>
                  <a:tcPr marL="73152" marR="73152" marT="27432" marB="27432" anchor="ctr">
                    <a:solidFill>
                      <a:srgbClr val="E0F2F1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2027"/>
                          </a:solidFill>
                        </a:rPr>
                        <a:t>max softmax alone</a:t>
                      </a:r>
                    </a:p>
                  </a:txBody>
                  <a:tcPr marL="73152" marR="73152" marT="27432" marB="27432" anchor="ctr"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2027"/>
                          </a:solidFill>
                        </a:rPr>
                        <a:t>0.889</a:t>
                      </a:r>
                    </a:p>
                  </a:txBody>
                  <a:tcPr marL="73152" marR="73152" marT="27432" marB="27432" anchor="ctr"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2027"/>
                          </a:solidFill>
                        </a:rPr>
                        <a:t>0.869</a:t>
                      </a:r>
                    </a:p>
                  </a:txBody>
                  <a:tcPr marL="73152" marR="73152" marT="27432" marB="27432" anchor="ctr">
                    <a:solidFill>
                      <a:srgbClr val="F0F2F4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2027"/>
                          </a:solidFill>
                        </a:rPr>
                        <a:t>Mahalanobis distance</a:t>
                      </a:r>
                    </a:p>
                  </a:txBody>
                  <a:tcPr marL="73152" marR="73152" marT="27432" marB="27432" anchor="ctr"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2027"/>
                          </a:solidFill>
                        </a:rPr>
                        <a:t>0.822</a:t>
                      </a:r>
                    </a:p>
                  </a:txBody>
                  <a:tcPr marL="73152" marR="73152" marT="27432" marB="27432" anchor="ctr"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2027"/>
                          </a:solidFill>
                        </a:rPr>
                        <a:t>0.775</a:t>
                      </a:r>
                    </a:p>
                  </a:txBody>
                  <a:tcPr marL="73152" marR="73152" marT="27432" marB="27432" anchor="ctr">
                    <a:solidFill>
                      <a:srgbClr val="F0F2F4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65760" y="4059936"/>
            <a:ext cx="56235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0" i="0">
                <a:solidFill>
                  <a:srgbClr val="455A64"/>
                </a:solidFill>
              </a:rPr>
              <a:t>AUROC against held-out specimens — never against training images, which the model has memorised. That inflates every score by ~8 points.</a:t>
            </a:r>
          </a:p>
          <a:p>
            <a:pPr>
              <a:spcAft>
                <a:spcPts val="400"/>
              </a:spcAft>
            </a:pPr>
            <a:r>
              <a:rPr sz="1000" b="1" i="0">
                <a:solidFill>
                  <a:srgbClr val="455A64"/>
                </a:solidFill>
              </a:rPr>
              <a:t>Best score: review 13 % of the collection to find 80 % of the novel genera.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4882896"/>
            <a:ext cx="5623560" cy="1005840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4992624"/>
            <a:ext cx="5349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1" i="0">
                <a:solidFill>
                  <a:srgbClr val="E65C00"/>
                </a:solidFill>
              </a:rPr>
              <a:t>Novel species inside a known genus stays hard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5285232"/>
            <a:ext cx="534924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0" i="0">
                <a:solidFill>
                  <a:srgbClr val="1A2027"/>
                </a:solidFill>
              </a:rPr>
              <a:t>A new </a:t>
            </a:r>
            <a:r>
              <a:rPr sz="1000" b="0" i="1">
                <a:solidFill>
                  <a:srgbClr val="1A2027"/>
                </a:solidFill>
              </a:rPr>
              <a:t>Psychotria</a:t>
            </a:r>
            <a:r>
              <a:rPr sz="1000" b="0" i="0">
                <a:solidFill>
                  <a:srgbClr val="1A2027"/>
                </a:solidFill>
              </a:rPr>
              <a:t> IS a </a:t>
            </a:r>
            <a:r>
              <a:rPr sz="1000" b="0" i="1">
                <a:solidFill>
                  <a:srgbClr val="1A2027"/>
                </a:solidFill>
              </a:rPr>
              <a:t>Psychotria</a:t>
            </a:r>
            <a:r>
              <a:rPr sz="1000" b="0" i="0">
                <a:solidFill>
                  <a:srgbClr val="1A2027"/>
                </a:solidFill>
              </a:rPr>
              <a:t>. The genus head is right to be confident, so no genus-level signal can detect it — even in principle. Review burden is still ~39 %.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188720"/>
            <a:ext cx="546811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0695C"/>
                </a:solidFill>
              </a:rPr>
              <a:t>2 · Is this specimen's recorded label wrong?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1536192"/>
            <a:ext cx="5468112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0" i="0">
                <a:solidFill>
                  <a:srgbClr val="1A2027"/>
                </a:solidFill>
              </a:rPr>
              <a:t>For held-out specimens, flag prediction ≠ determination. For training specimens that finds nothing: train accuracy is 100.0 %.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1A2027"/>
                </a:solidFill>
              </a:rPr>
              <a:t>The model has memorised the mistakes — and confidently confirms them back to the curator.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615184"/>
            <a:ext cx="546811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0695C"/>
                </a:solidFill>
              </a:rPr>
              <a:t>Area Under the Margin (AUM)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962656"/>
            <a:ext cx="5468112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0" i="0">
                <a:solidFill>
                  <a:srgbClr val="1A2027"/>
                </a:solidFill>
              </a:rPr>
              <a:t>Networks generalise first and memorise last. Each epoch, record margin = logit(recorded label) − best rival logit, and average it over the run.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5080" y="3529584"/>
            <a:ext cx="2651760" cy="987552"/>
          </a:xfrm>
          <a:prstGeom prst="rect">
            <a:avLst/>
          </a:prstGeom>
          <a:solidFill>
            <a:srgbClr val="E0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73952" y="3621024"/>
            <a:ext cx="2414016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1" i="0">
                <a:solidFill>
                  <a:srgbClr val="00695C"/>
                </a:solidFill>
              </a:rPr>
              <a:t>Label correct</a:t>
            </a:r>
          </a:p>
          <a:p>
            <a:pPr>
              <a:spcAft>
                <a:spcPts val="400"/>
              </a:spcAft>
            </a:pPr>
            <a:r>
              <a:rPr sz="1000" b="0" i="0">
                <a:solidFill>
                  <a:srgbClr val="1A2027"/>
                </a:solidFill>
              </a:rPr>
              <a:t>Supported by every other specimen of its class. Margin goes positive early. High AUM.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71432" y="3529584"/>
            <a:ext cx="2651760" cy="987552"/>
          </a:xfrm>
          <a:prstGeom prst="rect">
            <a:avLst/>
          </a:prstGeom>
          <a:solidFill>
            <a:srgbClr val="FF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90304" y="3621024"/>
            <a:ext cx="2414016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1" i="0">
                <a:solidFill>
                  <a:srgbClr val="C62828"/>
                </a:solidFill>
              </a:rPr>
              <a:t>Label wrong</a:t>
            </a:r>
          </a:p>
          <a:p>
            <a:pPr>
              <a:spcAft>
                <a:spcPts val="400"/>
              </a:spcAft>
            </a:pPr>
            <a:r>
              <a:rPr sz="1000" b="0" i="0">
                <a:solidFill>
                  <a:srgbClr val="1A2027"/>
                </a:solidFill>
              </a:rPr>
              <a:t>Opposed by every correct specimen of that class. Only memorisation fits it, and that comes late. Low or negative AUM.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4654296"/>
            <a:ext cx="546811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0" i="0">
                <a:solidFill>
                  <a:srgbClr val="455A64"/>
                </a:solidFill>
              </a:rPr>
              <a:t>Free and purely observational: no gradient, no loss term, one float per image. On by default (--no-aum to disable). The ranking travels in the checkpoint.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5080" y="5175504"/>
            <a:ext cx="5468112" cy="786384"/>
          </a:xfrm>
          <a:prstGeom prst="rect">
            <a:avLst/>
          </a:prstGeom>
          <a:solidFill>
            <a:srgbClr val="F0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5285232"/>
            <a:ext cx="519379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1" i="0">
                <a:solidFill>
                  <a:srgbClr val="455A64"/>
                </a:solidFill>
              </a:rPr>
              <a:t>Status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5577840"/>
            <a:ext cx="5193792" cy="2743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0" i="0">
                <a:solidFill>
                  <a:srgbClr val="1A2027"/>
                </a:solidFill>
              </a:rPr>
              <a:t>Implemented and running. The lowest-AUM sheets are the candidate mis-determinations — awaiting a botanist's adjudication.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053328"/>
            <a:ext cx="114300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1" i="0">
                <a:solidFill>
                  <a:srgbClr val="455A64"/>
                </a:solidFill>
              </a:rPr>
              <a:t>Both depend on calibration — </a:t>
            </a:r>
            <a:r>
              <a:rPr sz="1100" b="0" i="0">
                <a:solidFill>
                  <a:srgbClr val="455A64"/>
                </a:solidFill>
              </a:rPr>
              <a:t>with class weights on (previous slide), novelty AUROC was 0.751: the confidence signal these scores are built from had been destroyed. Removing them took it to 0.889 with no change to the method at all.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41148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3716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Run All — Full Pipeline Automation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13232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0CBC4"/>
                </a:solidFill>
              </a:rPr>
              <a:t>Executes all four stages in sequence; can be paused, cancelled, and resumed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6528816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55A64"/>
                </a:solidFill>
              </a:rPr>
              <a:t>Herbarium Classification Pipeline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353312"/>
            <a:ext cx="2148840" cy="640080"/>
          </a:xfrm>
          <a:prstGeom prst="round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1 Download</a:t>
            </a:r>
          </a:p>
        </p:txBody>
      </p:sp>
      <p:sp>
        <p:nvSpPr>
          <p:cNvPr id="9" name="Can 8"/>
          <p:cNvSpPr/>
          <p:nvPr/>
        </p:nvSpPr>
        <p:spPr>
          <a:xfrm>
            <a:off x="2903220" y="1545336"/>
            <a:ext cx="182880" cy="256032"/>
          </a:xfrm>
          <a:prstGeom prst="can">
            <a:avLst/>
          </a:prstGeom>
          <a:solidFill>
            <a:srgbClr val="CF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474719" y="1353312"/>
            <a:ext cx="2148840" cy="640080"/>
          </a:xfrm>
          <a:prstGeom prst="roundRect">
            <a:avLst/>
          </a:prstGeom>
          <a:solidFill>
            <a:srgbClr val="006E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2 Filter &amp; Crop</a:t>
            </a:r>
          </a:p>
        </p:txBody>
      </p:sp>
      <p:sp>
        <p:nvSpPr>
          <p:cNvPr id="11" name="Can 10"/>
          <p:cNvSpPr/>
          <p:nvPr/>
        </p:nvSpPr>
        <p:spPr>
          <a:xfrm>
            <a:off x="6012179" y="1545336"/>
            <a:ext cx="182880" cy="256032"/>
          </a:xfrm>
          <a:prstGeom prst="can">
            <a:avLst/>
          </a:prstGeom>
          <a:solidFill>
            <a:srgbClr val="CF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583679" y="1353312"/>
            <a:ext cx="2148840" cy="640080"/>
          </a:xfrm>
          <a:prstGeom prst="roundRect">
            <a:avLst/>
          </a:prstGeom>
          <a:solidFill>
            <a:srgbClr val="015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3 Train</a:t>
            </a:r>
          </a:p>
        </p:txBody>
      </p:sp>
      <p:sp>
        <p:nvSpPr>
          <p:cNvPr id="13" name="Can 12"/>
          <p:cNvSpPr/>
          <p:nvPr/>
        </p:nvSpPr>
        <p:spPr>
          <a:xfrm>
            <a:off x="9121139" y="1545336"/>
            <a:ext cx="182880" cy="256032"/>
          </a:xfrm>
          <a:prstGeom prst="can">
            <a:avLst/>
          </a:prstGeom>
          <a:solidFill>
            <a:srgbClr val="CF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692640" y="1353312"/>
            <a:ext cx="2148840" cy="640080"/>
          </a:xfrm>
          <a:prstGeom prst="round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4 Identify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2221992"/>
            <a:ext cx="11430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1A2027"/>
                </a:solidFill>
              </a:rPr>
              <a:t>• Each stage checks whether its output already exists — skips completed stages automatically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2027"/>
                </a:solidFill>
              </a:rPr>
              <a:t>• If a stage fails, fix the issue and restart Run All; completed stages are not repeated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2027"/>
                </a:solidFill>
              </a:rPr>
              <a:t>• The Stop button cancels the current stage cleanly (no partial-write corruption)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2027"/>
                </a:solidFill>
              </a:rPr>
              <a:t>• In Cloud mode the orchestrator runs all stages on the pod; progress streams to the Output panel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51276" y="4187952"/>
            <a:ext cx="5486400" cy="2194560"/>
          </a:xfrm>
          <a:prstGeom prst="rect">
            <a:avLst/>
          </a:prstGeom>
          <a:solidFill>
            <a:srgbClr val="B3E5FC"/>
          </a:solidFill>
          <a:ln w="9525">
            <a:solidFill>
              <a:srgbClr val="015F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488436" y="4261104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15F9B"/>
                </a:solidFill>
              </a:rPr>
              <a:t>Cloud mode  (☁)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42716" y="4626864"/>
            <a:ext cx="5212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015F9B"/>
                </a:solidFill>
              </a:rPr>
              <a:t>• Orchestrator provisions a RunPod pod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015F9B"/>
                </a:solidFill>
              </a:rPr>
              <a:t>• Streams output to the web UI log panel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015F9B"/>
                </a:solidFill>
              </a:rPr>
              <a:t>• Archives results to Cloudflare R2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015F9B"/>
                </a:solidFill>
              </a:rPr>
              <a:t>• Pod can be terminated when done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1371600" y="4389120"/>
            <a:ext cx="3657600" cy="3657600"/>
          </a:xfrm>
          <a:prstGeom prst="ellipse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515600" y="-914400"/>
            <a:ext cx="2743200" cy="2743200"/>
          </a:xfrm>
          <a:prstGeom prst="ellipse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2194560"/>
            <a:ext cx="9966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Cloud Mode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56616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80CBC4"/>
                </a:solidFill>
              </a:rPr>
              <a:t>GPU training on RunPod · Storage on Cloudflare R2 · Orchestrated from your browser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41148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3716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Cloud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13232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0CBC4"/>
                </a:solidFill>
              </a:rPr>
              <a:t>Three main components communicate over the internet; your browser is the control plane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6528816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55A64"/>
                </a:solidFill>
              </a:rPr>
              <a:t>Herbarium Classification Pipeline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1444752"/>
            <a:ext cx="3017520" cy="2926080"/>
          </a:xfrm>
          <a:prstGeom prst="rect">
            <a:avLst/>
          </a:prstGeom>
          <a:solidFill>
            <a:srgbClr val="E0F2F1"/>
          </a:solidFill>
          <a:ln w="25400">
            <a:solidFill>
              <a:srgbClr val="006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1517904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695C"/>
                </a:solidFill>
              </a:rPr>
              <a:t>Your PC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1947672"/>
            <a:ext cx="2651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1A2027"/>
                </a:solidFill>
              </a:rPr>
              <a:t>• Web UI (browser)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2027"/>
                </a:solidFill>
              </a:rPr>
              <a:t>• Orchestrator process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2027"/>
                </a:solidFill>
              </a:rPr>
              <a:t>• rclone (restore)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2027"/>
                </a:solidFill>
              </a:rPr>
              <a:t>• SSH key</a:t>
            </a:r>
          </a:p>
        </p:txBody>
      </p:sp>
      <p:sp>
        <p:nvSpPr>
          <p:cNvPr id="11" name="Can 10"/>
          <p:cNvSpPr/>
          <p:nvPr/>
        </p:nvSpPr>
        <p:spPr>
          <a:xfrm>
            <a:off x="3246120" y="2414016"/>
            <a:ext cx="1280160" cy="256032"/>
          </a:xfrm>
          <a:prstGeom prst="can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46120" y="2249424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55A64"/>
                </a:solidFill>
              </a:rPr>
              <a:t>SSH / SFTP</a:t>
            </a:r>
          </a:p>
        </p:txBody>
      </p:sp>
      <p:sp>
        <p:nvSpPr>
          <p:cNvPr id="13" name="Can 12"/>
          <p:cNvSpPr/>
          <p:nvPr/>
        </p:nvSpPr>
        <p:spPr>
          <a:xfrm>
            <a:off x="3246120" y="2825496"/>
            <a:ext cx="1280160" cy="256032"/>
          </a:xfrm>
          <a:prstGeom prst="can">
            <a:avLst/>
          </a:prstGeom>
          <a:solidFill>
            <a:srgbClr val="80C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46120" y="2660904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55A64"/>
                </a:solidFill>
              </a:rPr>
              <a:t>log stream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63440" y="1444752"/>
            <a:ext cx="3566160" cy="2926080"/>
          </a:xfrm>
          <a:prstGeom prst="rect">
            <a:avLst/>
          </a:prstGeom>
          <a:solidFill>
            <a:srgbClr val="B3E5FC"/>
          </a:solidFill>
          <a:ln w="25400">
            <a:solidFill>
              <a:srgbClr val="015F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754880" y="1517904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15F9B"/>
                </a:solidFill>
              </a:rPr>
              <a:t>RunPod GPU Pod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600" y="1947672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1A2027"/>
                </a:solidFill>
              </a:rPr>
              <a:t>• RTX PRO 6000 Blackwell / A6000 / L40S / H100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2027"/>
                </a:solidFill>
              </a:rPr>
              <a:t>• Download  ·  Filter &amp; Crop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2027"/>
                </a:solidFill>
              </a:rPr>
              <a:t>• Train  ·  Identify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2027"/>
                </a:solidFill>
              </a:rPr>
              <a:t>• rclone (archive to R2)</a:t>
            </a:r>
          </a:p>
        </p:txBody>
      </p:sp>
      <p:sp>
        <p:nvSpPr>
          <p:cNvPr id="18" name="Can 17"/>
          <p:cNvSpPr/>
          <p:nvPr/>
        </p:nvSpPr>
        <p:spPr>
          <a:xfrm>
            <a:off x="8321040" y="2414016"/>
            <a:ext cx="1188720" cy="256032"/>
          </a:xfrm>
          <a:prstGeom prst="can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21040" y="2249424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55A64"/>
                </a:solidFill>
              </a:rPr>
              <a:t>rclone copy</a:t>
            </a:r>
          </a:p>
        </p:txBody>
      </p:sp>
      <p:sp>
        <p:nvSpPr>
          <p:cNvPr id="20" name="Can 19"/>
          <p:cNvSpPr/>
          <p:nvPr/>
        </p:nvSpPr>
        <p:spPr>
          <a:xfrm>
            <a:off x="8321040" y="2825496"/>
            <a:ext cx="1188720" cy="256032"/>
          </a:xfrm>
          <a:prstGeom prst="can">
            <a:avLst/>
          </a:prstGeom>
          <a:solidFill>
            <a:srgbClr val="FFC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21040" y="2660904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55A64"/>
                </a:solidFill>
              </a:rPr>
              <a:t>rclone restore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01200" y="1444752"/>
            <a:ext cx="2377440" cy="2926080"/>
          </a:xfrm>
          <a:prstGeom prst="rect">
            <a:avLst/>
          </a:prstGeom>
          <a:solidFill>
            <a:srgbClr val="FFE0B2"/>
          </a:solidFill>
          <a:ln w="25400">
            <a:solidFill>
              <a:srgbClr val="E6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92640" y="1517904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65C00"/>
                </a:solidFill>
              </a:rPr>
              <a:t>Cloudflare R2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38360" y="1947672"/>
            <a:ext cx="2103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1A2027"/>
                </a:solidFill>
              </a:rPr>
              <a:t>• checkpoints/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2027"/>
                </a:solidFill>
              </a:rPr>
              <a:t>• images.tar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2027"/>
                </a:solidFill>
              </a:rPr>
              <a:t>• specsin.csv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2027"/>
                </a:solidFill>
              </a:rPr>
              <a:t>• nameslist.json</a:t>
            </a:r>
          </a:p>
        </p:txBody>
      </p:sp>
      <p:sp>
        <p:nvSpPr>
          <p:cNvPr id="25" name="Down Arrow 24"/>
          <p:cNvSpPr/>
          <p:nvPr/>
        </p:nvSpPr>
        <p:spPr>
          <a:xfrm>
            <a:off x="6318504" y="4370832"/>
            <a:ext cx="256032" cy="457200"/>
          </a:xfrm>
          <a:prstGeom prst="downArrow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01384" y="450799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55A64"/>
                </a:solidFill>
              </a:rPr>
              <a:t>HTTP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663440" y="4873752"/>
            <a:ext cx="3566160" cy="731520"/>
          </a:xfrm>
          <a:prstGeom prst="round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>
                <a:solidFill>
                  <a:srgbClr val="2E7D32"/>
                </a:solidFill>
              </a:rPr>
              <a:t>GBIF API
(specimen records + image URLs)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" y="5943600"/>
            <a:ext cx="11612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55A64"/>
                </a:solidFill>
              </a:rPr>
              <a:t>Note: the orchestrator runs on Your PC and issues commands to the pod over SSH.  The web UI is also served locally — your browser connects to localhost:8765.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41148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3716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Data Flow — Download &amp; Prepare Phases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13232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0CBC4"/>
                </a:solidFill>
              </a:rPr>
              <a:t>GBIF → Pod disk  →  R2 archive  (stages 1 – 2)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6528816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55A64"/>
                </a:solidFill>
              </a:rPr>
              <a:t>Herbarium Classification Pipeline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" y="1216152"/>
            <a:ext cx="2194560" cy="548640"/>
          </a:xfrm>
          <a:prstGeom prst="round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1  Provision</a:t>
            </a:r>
          </a:p>
        </p:txBody>
      </p:sp>
      <p:sp>
        <p:nvSpPr>
          <p:cNvPr id="9" name="Can 8"/>
          <p:cNvSpPr/>
          <p:nvPr/>
        </p:nvSpPr>
        <p:spPr>
          <a:xfrm>
            <a:off x="2819400" y="1362456"/>
            <a:ext cx="182880" cy="256032"/>
          </a:xfrm>
          <a:prstGeom prst="can">
            <a:avLst/>
          </a:prstGeom>
          <a:solidFill>
            <a:srgbClr val="CF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28600" y="1828800"/>
            <a:ext cx="2194560" cy="1645920"/>
          </a:xfrm>
          <a:prstGeom prst="rect">
            <a:avLst/>
          </a:prstGeom>
          <a:solidFill>
            <a:srgbClr val="F0F2F4"/>
          </a:solidFill>
          <a:ln w="9525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0040" y="1883664"/>
            <a:ext cx="20116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027"/>
                </a:solidFill>
              </a:rPr>
              <a:t>Orchestrator calls RunPod API.
Pod boots, SSH comes up (~2 min).
rclone config pushed to pod.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98520" y="1216152"/>
            <a:ext cx="2194560" cy="54864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2  Download</a:t>
            </a:r>
          </a:p>
        </p:txBody>
      </p:sp>
      <p:sp>
        <p:nvSpPr>
          <p:cNvPr id="13" name="Can 12"/>
          <p:cNvSpPr/>
          <p:nvPr/>
        </p:nvSpPr>
        <p:spPr>
          <a:xfrm>
            <a:off x="5989320" y="1362456"/>
            <a:ext cx="182880" cy="256032"/>
          </a:xfrm>
          <a:prstGeom prst="can">
            <a:avLst/>
          </a:prstGeom>
          <a:solidFill>
            <a:srgbClr val="CF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98520" y="1828800"/>
            <a:ext cx="2194560" cy="1645920"/>
          </a:xfrm>
          <a:prstGeom prst="rect">
            <a:avLst/>
          </a:prstGeom>
          <a:solidFill>
            <a:srgbClr val="F0F2F4"/>
          </a:solidFill>
          <a:ln w="9525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89960" y="1883664"/>
            <a:ext cx="20116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027"/>
                </a:solidFill>
              </a:rPr>
              <a:t>Pod queries GBIF API.
Images fetched in parallel threads.
specsin.csv built incrementally.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68440" y="1216152"/>
            <a:ext cx="2194560" cy="548640"/>
          </a:xfrm>
          <a:prstGeom prst="roundRect">
            <a:avLst/>
          </a:prstGeom>
          <a:solidFill>
            <a:srgbClr val="015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3  Filter &amp; Crop</a:t>
            </a:r>
          </a:p>
        </p:txBody>
      </p:sp>
      <p:sp>
        <p:nvSpPr>
          <p:cNvPr id="17" name="Can 16"/>
          <p:cNvSpPr/>
          <p:nvPr/>
        </p:nvSpPr>
        <p:spPr>
          <a:xfrm>
            <a:off x="9159240" y="1362456"/>
            <a:ext cx="182880" cy="256032"/>
          </a:xfrm>
          <a:prstGeom prst="can">
            <a:avLst/>
          </a:prstGeom>
          <a:solidFill>
            <a:srgbClr val="CF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568440" y="1828800"/>
            <a:ext cx="2194560" cy="1645920"/>
          </a:xfrm>
          <a:prstGeom prst="rect">
            <a:avLst/>
          </a:prstGeom>
          <a:solidFill>
            <a:srgbClr val="F0F2F4"/>
          </a:solidFill>
          <a:ln w="9525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59880" y="1883664"/>
            <a:ext cx="20116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027"/>
                </a:solidFill>
              </a:rPr>
              <a:t>CLIP runs on pod GPU.
Non-herbarium images moved to rejected/.
Borders cropped.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738360" y="1216152"/>
            <a:ext cx="2194560" cy="548640"/>
          </a:xfrm>
          <a:prstGeom prst="round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4  Archive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738360" y="1828800"/>
            <a:ext cx="2194560" cy="1645920"/>
          </a:xfrm>
          <a:prstGeom prst="rect">
            <a:avLst/>
          </a:prstGeom>
          <a:solidFill>
            <a:srgbClr val="F0F2F4"/>
          </a:solidFill>
          <a:ln w="9525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829800" y="1883664"/>
            <a:ext cx="20116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027"/>
                </a:solidFill>
              </a:rPr>
              <a:t>rclone copies images.tar + specsin.csv
to R2.  Pod can now be
terminated safely.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" y="3776472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695C"/>
                </a:solidFill>
              </a:rPr>
              <a:t>Where data lives after each phase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187952"/>
            <a:ext cx="3566160" cy="1920240"/>
          </a:xfrm>
          <a:prstGeom prst="rect">
            <a:avLst/>
          </a:prstGeom>
          <a:solidFill>
            <a:srgbClr val="B3E5FC"/>
          </a:solidFill>
          <a:ln w="19050">
            <a:solidFill>
              <a:srgbClr val="015F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75488" y="4261104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15F9B"/>
                </a:solidFill>
              </a:rPr>
              <a:t>Pod network
volume
/workspace/data/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8" y="502920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A2027"/>
                </a:solidFill>
              </a:rPr>
              <a:t>images_cropped/</a:t>
            </a:r>
            <a:br/>
            <a:r>
              <a:t>specsin.csv</a:t>
            </a:r>
            <a:br/>
            <a:r>
              <a:t>(persists across pods)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6240" y="4187952"/>
            <a:ext cx="3566160" cy="1920240"/>
          </a:xfrm>
          <a:prstGeom prst="rect">
            <a:avLst/>
          </a:prstGeom>
          <a:solidFill>
            <a:srgbClr val="F0F2F4"/>
          </a:solidFill>
          <a:ln w="19050">
            <a:solidFill>
              <a:srgbClr val="4A1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315968" y="4261104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A148C"/>
                </a:solidFill>
              </a:rPr>
              <a:t>Pod container disk</a:t>
            </a:r>
            <a:br/>
            <a:r>
              <a:t>/opt/venv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15968" y="502920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A2027"/>
                </a:solidFill>
              </a:rPr>
              <a:t>prebaked environment</a:t>
            </a:r>
            <a:br/>
            <a:r>
              <a:t>torch · DALI · deps</a:t>
            </a:r>
            <a:br/>
            <a:r>
              <a:t>(dies with the pod)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46720" y="4187952"/>
            <a:ext cx="3566160" cy="1920240"/>
          </a:xfrm>
          <a:prstGeom prst="rect">
            <a:avLst/>
          </a:prstGeom>
          <a:solidFill>
            <a:srgbClr val="FFE0B2"/>
          </a:solidFill>
          <a:ln w="19050">
            <a:solidFill>
              <a:srgbClr val="E6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156448" y="4261104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65C00"/>
                </a:solidFill>
              </a:rPr>
              <a:t>Cloudflare R2
herbarium-backup/
&lt;project&gt;/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56448" y="502920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A2027"/>
                </a:solidFill>
              </a:rPr>
              <a:t>images.tar
specsin.csv
(permanent)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41148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3716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Data Flow — Training &amp; Archive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13232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0CBC4"/>
                </a:solidFill>
              </a:rPr>
              <a:t>Stage 3: pod GPU reads images, writes checkpoints; R2 stores the final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6528816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55A64"/>
                </a:solidFill>
              </a:rPr>
              <a:t>Herbarium Classification Pipeline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1353312"/>
            <a:ext cx="4572000" cy="2743200"/>
          </a:xfrm>
          <a:prstGeom prst="rect">
            <a:avLst/>
          </a:prstGeom>
          <a:solidFill>
            <a:srgbClr val="B3E5FC"/>
          </a:solidFill>
          <a:ln w="25400">
            <a:solidFill>
              <a:srgbClr val="015F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508760" y="1444752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15F9B"/>
                </a:solidFill>
              </a:rPr>
              <a:t>RunPod GPU Pod  —  Training Loop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508760" y="1901952"/>
            <a:ext cx="1645920" cy="914400"/>
          </a:xfrm>
          <a:prstGeom prst="roundRect">
            <a:avLst/>
          </a:prstGeom>
          <a:solidFill>
            <a:srgbClr val="015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0">
                <a:solidFill>
                  <a:srgbClr val="FFFFFF"/>
                </a:solidFill>
              </a:rPr>
              <a:t>DataLoader
reads batches
from disk</a:t>
            </a:r>
          </a:p>
        </p:txBody>
      </p:sp>
      <p:sp>
        <p:nvSpPr>
          <p:cNvPr id="11" name="Can 10"/>
          <p:cNvSpPr/>
          <p:nvPr/>
        </p:nvSpPr>
        <p:spPr>
          <a:xfrm>
            <a:off x="3246119" y="2231136"/>
            <a:ext cx="548640" cy="256032"/>
          </a:xfrm>
          <a:prstGeom prst="can">
            <a:avLst/>
          </a:prstGeom>
          <a:solidFill>
            <a:srgbClr val="015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840480" y="1901952"/>
            <a:ext cx="1828800" cy="914400"/>
          </a:xfrm>
          <a:prstGeom prst="round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0">
                <a:solidFill>
                  <a:srgbClr val="FFFFFF"/>
                </a:solidFill>
              </a:rPr>
              <a:t>ViT-Large
forward + backward
GPU compute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4626864" y="2816352"/>
            <a:ext cx="256032" cy="731520"/>
          </a:xfrm>
          <a:prstGeom prst="downArrow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840480" y="3593592"/>
            <a:ext cx="1828800" cy="457200"/>
          </a:xfrm>
          <a:prstGeom prst="round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0">
                <a:solidFill>
                  <a:srgbClr val="FFFFFF"/>
                </a:solidFill>
              </a:rPr>
              <a:t>Checkpoint
.ckpt saved
per epoch</a:t>
            </a:r>
          </a:p>
        </p:txBody>
      </p:sp>
      <p:sp>
        <p:nvSpPr>
          <p:cNvPr id="15" name="Can 14"/>
          <p:cNvSpPr/>
          <p:nvPr/>
        </p:nvSpPr>
        <p:spPr>
          <a:xfrm>
            <a:off x="6035040" y="2596896"/>
            <a:ext cx="1188720" cy="256032"/>
          </a:xfrm>
          <a:prstGeom prst="can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035040" y="2432304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55A64"/>
                </a:solidFill>
              </a:rPr>
              <a:t>rclone
(best ckpt)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06640" y="1353312"/>
            <a:ext cx="2286000" cy="2743200"/>
          </a:xfrm>
          <a:prstGeom prst="rect">
            <a:avLst/>
          </a:prstGeom>
          <a:solidFill>
            <a:srgbClr val="FFE0B2"/>
          </a:solidFill>
          <a:ln w="25400">
            <a:solidFill>
              <a:srgbClr val="E6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98079" y="1444752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65C00"/>
                </a:solidFill>
              </a:rPr>
              <a:t>R2
herbarium-backup/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79" y="1993392"/>
            <a:ext cx="2011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1A2027"/>
                </a:solidFill>
              </a:rPr>
              <a:t>• last.ckpt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A2027"/>
                </a:solidFill>
              </a:rPr>
              <a:t>• best epoch ckpt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A2027"/>
                </a:solidFill>
              </a:rPr>
              <a:t>• nameslist.json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A2027"/>
                </a:solidFill>
              </a:rPr>
              <a:t>• specsin.csv</a:t>
            </a:r>
          </a:p>
        </p:txBody>
      </p:sp>
      <p:sp>
        <p:nvSpPr>
          <p:cNvPr id="20" name="Can 19"/>
          <p:cNvSpPr/>
          <p:nvPr/>
        </p:nvSpPr>
        <p:spPr>
          <a:xfrm>
            <a:off x="9784080" y="2596896"/>
            <a:ext cx="1371600" cy="256032"/>
          </a:xfrm>
          <a:prstGeom prst="can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784080" y="243230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55A64"/>
                </a:solidFill>
              </a:rPr>
              <a:t>restore_local.py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247120" y="2176272"/>
            <a:ext cx="731520" cy="1097280"/>
          </a:xfrm>
          <a:prstGeom prst="round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0">
                <a:solidFill>
                  <a:srgbClr val="FFFFFF"/>
                </a:solidFill>
              </a:rPr>
              <a:t>Your PC
(for Review)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371600" y="4325112"/>
            <a:ext cx="4572000" cy="1005840"/>
          </a:xfrm>
          <a:prstGeom prst="rect">
            <a:avLst/>
          </a:prstGeom>
          <a:solidFill>
            <a:srgbClr val="F0F2F4"/>
          </a:solidFill>
          <a:ln w="1905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508760" y="4389120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8F00"/>
                </a:solidFill>
              </a:rPr>
              <a:t>Optional: WandB live logging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4718304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027"/>
                </a:solidFill>
              </a:rPr>
              <a:t>Metrics stream from pod → WandB cloud → your browser
Set WandB API key in the Setup tab to enable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5513832"/>
            <a:ext cx="11430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455A64"/>
                </a:solidFill>
              </a:rPr>
              <a:t>• Stage 1  (4 epochs, head only)  →  Stage 2  (6–10 epochs, early stop)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55A64"/>
                </a:solidFill>
              </a:rPr>
              <a:t>• Best-epoch checkpoint is identified by val_Accuracy and archived to R2 after Stage 2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55A64"/>
                </a:solidFill>
              </a:rPr>
              <a:t>• Resume from checkpoint: if  last.ckpt  exists, Stage 1 is skipped automatically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41148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3716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Data Flow — Restore &amp; Local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13232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0CBC4"/>
                </a:solidFill>
              </a:rPr>
              <a:t>Pull a completed project from R2 to your PC for inspection and correction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6528816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55A64"/>
                </a:solidFill>
              </a:rPr>
              <a:t>Herbarium Classification Pipeline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" y="1216152"/>
            <a:ext cx="2194560" cy="594360"/>
          </a:xfrm>
          <a:prstGeom prst="round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Run
restore_local.py</a:t>
            </a:r>
          </a:p>
        </p:txBody>
      </p:sp>
      <p:sp>
        <p:nvSpPr>
          <p:cNvPr id="9" name="Can 8"/>
          <p:cNvSpPr/>
          <p:nvPr/>
        </p:nvSpPr>
        <p:spPr>
          <a:xfrm>
            <a:off x="2423160" y="1380744"/>
            <a:ext cx="182880" cy="256032"/>
          </a:xfrm>
          <a:prstGeom prst="can">
            <a:avLst/>
          </a:prstGeom>
          <a:solidFill>
            <a:srgbClr val="CF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28600" y="1874520"/>
            <a:ext cx="2194560" cy="1463040"/>
          </a:xfrm>
          <a:prstGeom prst="rect">
            <a:avLst/>
          </a:prstGeom>
          <a:solidFill>
            <a:srgbClr val="F0F2F4"/>
          </a:solidFill>
          <a:ln w="9525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0040" y="192024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027"/>
                </a:solidFill>
              </a:rPr>
              <a:t>Reads R2 credentials
from OS keyring.
No rclone.conf needed.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06040" y="1216152"/>
            <a:ext cx="2194560" cy="594360"/>
          </a:xfrm>
          <a:prstGeom prst="roundRect">
            <a:avLst/>
          </a:prstGeom>
          <a:solidFill>
            <a:srgbClr val="015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Download
checkpoints/</a:t>
            </a:r>
          </a:p>
        </p:txBody>
      </p:sp>
      <p:sp>
        <p:nvSpPr>
          <p:cNvPr id="13" name="Can 12"/>
          <p:cNvSpPr/>
          <p:nvPr/>
        </p:nvSpPr>
        <p:spPr>
          <a:xfrm>
            <a:off x="4800600" y="1380744"/>
            <a:ext cx="182880" cy="256032"/>
          </a:xfrm>
          <a:prstGeom prst="can">
            <a:avLst/>
          </a:prstGeom>
          <a:solidFill>
            <a:srgbClr val="CF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606040" y="1874520"/>
            <a:ext cx="2194560" cy="1463040"/>
          </a:xfrm>
          <a:prstGeom prst="rect">
            <a:avLst/>
          </a:prstGeom>
          <a:solidFill>
            <a:srgbClr val="F0F2F4"/>
          </a:solidFill>
          <a:ln w="9525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697480" y="192024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027"/>
                </a:solidFill>
              </a:rPr>
              <a:t>last.ckpt + nameslist.json
pulled from
R2 → local disk.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83480" y="1216152"/>
            <a:ext cx="2194560" cy="594360"/>
          </a:xfrm>
          <a:prstGeom prst="round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Download
specsin.csv</a:t>
            </a:r>
          </a:p>
        </p:txBody>
      </p:sp>
      <p:sp>
        <p:nvSpPr>
          <p:cNvPr id="17" name="Can 16"/>
          <p:cNvSpPr/>
          <p:nvPr/>
        </p:nvSpPr>
        <p:spPr>
          <a:xfrm>
            <a:off x="7178040" y="1380744"/>
            <a:ext cx="182880" cy="256032"/>
          </a:xfrm>
          <a:prstGeom prst="can">
            <a:avLst/>
          </a:prstGeom>
          <a:solidFill>
            <a:srgbClr val="CF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983480" y="1874520"/>
            <a:ext cx="2194560" cy="1463040"/>
          </a:xfrm>
          <a:prstGeom prst="rect">
            <a:avLst/>
          </a:prstGeom>
          <a:solidFill>
            <a:srgbClr val="F0F2F4"/>
          </a:solidFill>
          <a:ln w="9525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74920" y="192024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027"/>
                </a:solidFill>
              </a:rPr>
              <a:t>Project metadata
restored to
target folder.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60920" y="1216152"/>
            <a:ext cx="2194560" cy="59436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Extract
images.tar</a:t>
            </a:r>
          </a:p>
        </p:txBody>
      </p:sp>
      <p:sp>
        <p:nvSpPr>
          <p:cNvPr id="21" name="Can 20"/>
          <p:cNvSpPr/>
          <p:nvPr/>
        </p:nvSpPr>
        <p:spPr>
          <a:xfrm>
            <a:off x="9555480" y="1380744"/>
            <a:ext cx="182880" cy="256032"/>
          </a:xfrm>
          <a:prstGeom prst="can">
            <a:avLst/>
          </a:prstGeom>
          <a:solidFill>
            <a:srgbClr val="CF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360920" y="1874520"/>
            <a:ext cx="2194560" cy="1463040"/>
          </a:xfrm>
          <a:prstGeom prst="rect">
            <a:avLst/>
          </a:prstGeom>
          <a:solidFill>
            <a:srgbClr val="F0F2F4"/>
          </a:solidFill>
          <a:ln w="9525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52360" y="192024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027"/>
                </a:solidFill>
              </a:rPr>
              <a:t>Full image set
extracted to
images/ folder.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738360" y="1216152"/>
            <a:ext cx="2194560" cy="594360"/>
          </a:xfrm>
          <a:prstGeom prst="round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Open
web UI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738360" y="1874520"/>
            <a:ext cx="2194560" cy="1463040"/>
          </a:xfrm>
          <a:prstGeom prst="rect">
            <a:avLst/>
          </a:prstGeom>
          <a:solidFill>
            <a:srgbClr val="F0F2F4"/>
          </a:solidFill>
          <a:ln w="9525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829800" y="192024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027"/>
                </a:solidFill>
              </a:rPr>
              <a:t>Point Active model
to the .ckpt, click
Apply paths → Identify.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35935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695C"/>
                </a:solidFill>
              </a:rPr>
              <a:t>Restore command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3959352"/>
            <a:ext cx="11155680" cy="594360"/>
          </a:xfrm>
          <a:prstGeom prst="rect">
            <a:avLst/>
          </a:prstGeom>
          <a:solidFill>
            <a:srgbClr val="1A2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48640" y="40050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0CBC4"/>
                </a:solidFill>
              </a:rPr>
              <a:t>python restore_local.py  --project Ebenaceae  --target C:\AIProjects\Ebenaceae  --remote r2:herbarium-backup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478231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55A64"/>
                </a:solidFill>
              </a:rPr>
              <a:t>After restore the target folder contains: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5148071"/>
            <a:ext cx="5029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455A64"/>
                </a:solidFill>
              </a:rPr>
              <a:t>• checkpoints/last.ckpt  +  nameslist.json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55A64"/>
                </a:solidFill>
              </a:rPr>
              <a:t>• specsin.csv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55A64"/>
                </a:solidFill>
              </a:rPr>
              <a:t>• images/   (full image set)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55A64"/>
                </a:solidFill>
              </a:rPr>
              <a:t>• predictions/   (if already run Identify)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0" y="4782312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695C"/>
                </a:solidFill>
              </a:rPr>
              <a:t>Then in the web UI: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0" y="5148071"/>
            <a:ext cx="5669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1A2027"/>
                </a:solidFill>
              </a:rPr>
              <a:t>• Header → Active model → browse to  last.ckpt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2027"/>
                </a:solidFill>
              </a:rPr>
              <a:t>• Header → Projects root + Project name → Apply paths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2027"/>
                </a:solidFill>
              </a:rPr>
              <a:t>• Identify tab → Run  (generates predictions.csv)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2027"/>
                </a:solidFill>
              </a:rPr>
              <a:t>• Review tab → inspect predictions, correct labels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2027"/>
                </a:solidFill>
              </a:rPr>
              <a:t>• Analysis tab → confusion matrix + per-species accuracy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41148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3716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Getting Started — Quick-Start Checklist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6528816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55A64"/>
                </a:solidFill>
              </a:rPr>
              <a:t>Herbarium Classification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21615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695C"/>
                </a:solidFill>
              </a:rPr>
              <a:t>Accounts &amp; credentials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627632"/>
            <a:ext cx="1463040" cy="530352"/>
          </a:xfrm>
          <a:prstGeom prst="round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>
                <a:solidFill>
                  <a:srgbClr val="FFFFFF"/>
                </a:solidFill>
              </a:rPr>
              <a:t>Cloudflare R2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719072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027"/>
                </a:solidFill>
              </a:rPr>
              <a:t>Sign up · create herbarium-backup bucket · generate API token (Read &amp; Edit)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2313432"/>
            <a:ext cx="1463040" cy="530352"/>
          </a:xfrm>
          <a:prstGeom prst="roundRect">
            <a:avLst/>
          </a:prstGeom>
          <a:solidFill>
            <a:srgbClr val="015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>
                <a:solidFill>
                  <a:srgbClr val="FFFFFF"/>
                </a:solidFill>
              </a:rPr>
              <a:t>RunPod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404872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027"/>
                </a:solidFill>
              </a:rPr>
              <a:t>Sign up · add billing · create API key (rpa_…) · register SSH public key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2999232"/>
            <a:ext cx="1463040" cy="530352"/>
          </a:xfrm>
          <a:prstGeom prst="roundRect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>
                <a:solidFill>
                  <a:srgbClr val="FFFFFF"/>
                </a:solidFill>
              </a:rPr>
              <a:t>WandB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3090672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027"/>
                </a:solidFill>
              </a:rPr>
              <a:t>Optional — free for academic use · get API key for live training graphs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73075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695C"/>
                </a:solidFill>
              </a:rPr>
              <a:t>One-time local setup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096512"/>
            <a:ext cx="5669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1A2027"/>
                </a:solidFill>
              </a:rPr>
              <a:t>• Generate SSH key:   ssh-keygen -t ed25519 -f %USERPROFILE%\.ssh\id_ed25519_herbarium -N ""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2027"/>
                </a:solidFill>
              </a:rPr>
              <a:t>• Register the .pub content at RunPod → Settings → SSH Public Keys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2027"/>
                </a:solidFill>
              </a:rPr>
              <a:t>• Enter keys in the web UI ⚙ Setup tab and click Save for each section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2027"/>
                </a:solidFill>
              </a:rPr>
              <a:t>• Run  python herbarium_pipeline_webui.py  — opens at http://localhost:8765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1216152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695C"/>
                </a:solidFill>
              </a:rPr>
              <a:t>First run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627632"/>
            <a:ext cx="384048" cy="475488"/>
          </a:xfrm>
          <a:prstGeom prst="round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1700784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027"/>
                </a:solidFill>
              </a:rPr>
              <a:t>Set Projects root and Project name in the header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2194560"/>
            <a:ext cx="384048" cy="475488"/>
          </a:xfrm>
          <a:prstGeom prst="round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2267712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027"/>
                </a:solidFill>
              </a:rPr>
              <a:t>Click Apply paths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2761488"/>
            <a:ext cx="384048" cy="475488"/>
          </a:xfrm>
          <a:prstGeom prst="round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283464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027"/>
                </a:solidFill>
              </a:rPr>
              <a:t>Download tab → choose a Family (start small: limit 200)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3328416"/>
            <a:ext cx="384048" cy="475488"/>
          </a:xfrm>
          <a:prstGeom prst="round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340156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027"/>
                </a:solidFill>
              </a:rPr>
              <a:t>Filter &amp; Crop tab → Run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3895344"/>
            <a:ext cx="384048" cy="475488"/>
          </a:xfrm>
          <a:prstGeom prst="round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0840" y="396849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027"/>
                </a:solidFill>
              </a:rPr>
              <a:t>Train tab → set Stage 2 epochs to 5 for a test run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4462272"/>
            <a:ext cx="384048" cy="475488"/>
          </a:xfrm>
          <a:prstGeom prst="round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0840" y="4535424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027"/>
                </a:solidFill>
              </a:rPr>
              <a:t>Identify tab → Run and check predictions.csv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41148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3716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Publish &amp; Identify on a Phone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13232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0CBC4"/>
                </a:solidFill>
              </a:rPr>
              <a:t>Publish a trained model to the Hugging Face Hub — anyone identifies specimens from a phone browser, no install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6528816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55A64"/>
                </a:solidFill>
              </a:rPr>
              <a:t>Herbarium Classification Pipeline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399032"/>
            <a:ext cx="2286000" cy="960120"/>
          </a:xfrm>
          <a:prstGeom prst="round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Trained
checkpoint
.ckpt</a:t>
            </a:r>
          </a:p>
        </p:txBody>
      </p:sp>
      <p:sp>
        <p:nvSpPr>
          <p:cNvPr id="9" name="Can 8"/>
          <p:cNvSpPr/>
          <p:nvPr/>
        </p:nvSpPr>
        <p:spPr>
          <a:xfrm>
            <a:off x="2697480" y="1746504"/>
            <a:ext cx="1234440" cy="256032"/>
          </a:xfrm>
          <a:prstGeom prst="can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697480" y="1581912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55A64"/>
                </a:solidFill>
              </a:rPr>
              <a:t>push_model.py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23360" y="1399032"/>
            <a:ext cx="3200400" cy="960120"/>
          </a:xfrm>
          <a:prstGeom prst="roundRect">
            <a:avLst/>
          </a:prstGeom>
          <a:solidFill>
            <a:srgbClr val="015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Hugging Face Hub
model repo</a:t>
            </a:r>
          </a:p>
          <a:p>
            <a:pPr algn="ctr"/>
            <a:r>
              <a:rPr sz="1000">
                <a:solidFill>
                  <a:srgbClr val="FFFFFF"/>
                </a:solidFill>
              </a:rPr>
              <a:t>model.ckpt · nameslist · config.json</a:t>
            </a:r>
          </a:p>
        </p:txBody>
      </p:sp>
      <p:sp>
        <p:nvSpPr>
          <p:cNvPr id="12" name="Can 11"/>
          <p:cNvSpPr/>
          <p:nvPr/>
        </p:nvSpPr>
        <p:spPr>
          <a:xfrm>
            <a:off x="7269480" y="1746504"/>
            <a:ext cx="1234440" cy="256032"/>
          </a:xfrm>
          <a:prstGeom prst="can">
            <a:avLst/>
          </a:prstGeom>
          <a:solidFill>
            <a:srgbClr val="015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269480" y="1581912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55A64"/>
                </a:solidFill>
              </a:rPr>
              <a:t>auto-discovered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95360" y="1399032"/>
            <a:ext cx="3200400" cy="960120"/>
          </a:xfrm>
          <a:prstGeom prst="round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herbarium-id Space
Gradio · free CPU tier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263347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695C"/>
                </a:solidFill>
              </a:rPr>
              <a:t>Publishing a 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044951"/>
            <a:ext cx="55778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1A2027"/>
                </a:solidFill>
              </a:rPr>
              <a:t>• push_model.py slims the checkpoint (drops optimizer, ~⅓ size) and uploads model.ckpt + nameslist.json + config.json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2027"/>
                </a:solidFill>
              </a:rPr>
              <a:t>• Repo tagged herbarium-pipeline → the Space discovers it automatically; tap ⟳ to refresh (no redeploy)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2027"/>
                </a:solidFill>
              </a:rPr>
              <a:t>• config.json carries image size, label rank, and a calibration temperature so confidence is honest, not ~100 %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2027"/>
                </a:solidFill>
              </a:rPr>
              <a:t>• One-time  huggingface-cli login  with a write token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5148071"/>
            <a:ext cx="5577840" cy="548640"/>
          </a:xfrm>
          <a:prstGeom prst="rect">
            <a:avLst/>
          </a:prstGeom>
          <a:solidFill>
            <a:srgbClr val="1A2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521208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0CBC4"/>
                </a:solidFill>
              </a:rPr>
              <a:t>python space/push_model.py --ckpt … --family Ebenaceae --hf-user &lt;you&gt;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63347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695C"/>
                </a:solidFill>
              </a:rPr>
              <a:t>On a phone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3044951"/>
            <a:ext cx="38404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1A2027"/>
                </a:solidFill>
              </a:rPr>
              <a:t>• Open the Space URL in any phone browser — nothing to install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2027"/>
                </a:solidFill>
              </a:rPr>
              <a:t>• Pick a model, tap to photograph a sheet with the rear camera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2027"/>
                </a:solidFill>
              </a:rPr>
              <a:t>• Top-5 species / family + confidence in a second or two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2027"/>
                </a:solidFill>
              </a:rPr>
              <a:t>• Optional lat/lon sharpens geo-aware models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24160" y="2724912"/>
            <a:ext cx="1371600" cy="2743200"/>
          </a:xfrm>
          <a:prstGeom prst="roundRect">
            <a:avLst/>
          </a:prstGeom>
          <a:solidFill>
            <a:srgbClr val="1A2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0515600" y="2889504"/>
            <a:ext cx="1188720" cy="24140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0515600" y="2889504"/>
            <a:ext cx="1188720" cy="29260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533888" y="2898648"/>
            <a:ext cx="11521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🌿 Herbarium ID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625328" y="3291840"/>
            <a:ext cx="969264" cy="868680"/>
          </a:xfrm>
          <a:prstGeom prst="rect">
            <a:avLst/>
          </a:prstGeom>
          <a:solidFill>
            <a:srgbClr val="E0F2F1"/>
          </a:solidFill>
          <a:ln w="9525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625328" y="3529584"/>
            <a:ext cx="9692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55A64"/>
                </a:solidFill>
              </a:rPr>
              <a:t>sheet
photo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625328" y="4279392"/>
            <a:ext cx="872337" cy="18288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10625328" y="4572000"/>
            <a:ext cx="581558" cy="182880"/>
          </a:xfrm>
          <a:prstGeom prst="rect">
            <a:avLst/>
          </a:prstGeom>
          <a:solidFill>
            <a:srgbClr val="80C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10625328" y="4864608"/>
            <a:ext cx="387705" cy="182880"/>
          </a:xfrm>
          <a:prstGeom prst="rect">
            <a:avLst/>
          </a:prstGeom>
          <a:solidFill>
            <a:srgbClr val="80C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65760" y="5806440"/>
            <a:ext cx="11457432" cy="502920"/>
          </a:xfrm>
          <a:prstGeom prst="rect">
            <a:avLst/>
          </a:prstGeom>
          <a:solidFill>
            <a:srgbClr val="E0F2F1"/>
          </a:solidFill>
          <a:ln w="9525">
            <a:solidFill>
              <a:srgbClr val="80C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48640" y="587044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695C"/>
                </a:solidFill>
              </a:rPr>
              <a:t>Live now:  https://huggingface.co/spaces/ggosline/herbarium-id     ·     models: africa-angiosperms-family · olacaceae-species · uvaria-species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2725</Words>
  <Application>Microsoft Office PowerPoint</Application>
  <PresentationFormat>Custom</PresentationFormat>
  <Paragraphs>322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George Gosline</cp:lastModifiedBy>
  <cp:revision>2</cp:revision>
  <dcterms:created xsi:type="dcterms:W3CDTF">2013-01-27T09:14:16Z</dcterms:created>
  <dcterms:modified xsi:type="dcterms:W3CDTF">2026-07-14T11:08:37Z</dcterms:modified>
  <cp:category/>
</cp:coreProperties>
</file>