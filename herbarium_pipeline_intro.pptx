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740664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9728" cy="38404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6766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695C"/>
                </a:solidFill>
              </a:rPr>
              <a:t>Herbarium Classification
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55A64"/>
                </a:solidFill>
              </a:rPr>
              <a:t>A guided walkthrough: downloading specimen images,
filtering, training a deep learning model, and reviewing results.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434840"/>
            <a:ext cx="1170432" cy="5943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1
Download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4434840"/>
            <a:ext cx="1170432" cy="5943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2
Filter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1024" y="4434840"/>
            <a:ext cx="1170432" cy="594360"/>
          </a:xfrm>
          <a:prstGeom prst="roundRect">
            <a:avLst/>
          </a:prstGeom>
          <a:solidFill>
            <a:srgbClr val="00A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3
Resized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82896" y="4434840"/>
            <a:ext cx="1170432" cy="59436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4
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4434840"/>
            <a:ext cx="1170432" cy="594360"/>
          </a:xfrm>
          <a:prstGeom prst="round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5
Identify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914400"/>
            <a:ext cx="3474720" cy="52120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1A2027"/>
                </a:solidFill>
              </a:rPr>
              <a:t>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47472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100s of species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Herbarium scans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GPU-accelerated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Cloud or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CBC4"/>
                </a:solidFill>
              </a:rPr>
              <a:t>George Gosline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A trained deep learning model that identifies plant species from herbarium specimen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44752"/>
            <a:ext cx="274320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2027"/>
                </a:solidFill>
              </a:rPr>
              <a:t>Input
Herbarium scans
(any scanner format)</a:t>
            </a:r>
          </a:p>
        </p:txBody>
      </p:sp>
      <p:sp>
        <p:nvSpPr>
          <p:cNvPr id="9" name="Can 8"/>
          <p:cNvSpPr/>
          <p:nvPr/>
        </p:nvSpPr>
        <p:spPr>
          <a:xfrm>
            <a:off x="3200400" y="2231136"/>
            <a:ext cx="118872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066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train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44752"/>
            <a:ext cx="2377440" cy="1828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Model
checkpoint
(.ckpt)</a:t>
            </a:r>
          </a:p>
        </p:txBody>
      </p:sp>
      <p:sp>
        <p:nvSpPr>
          <p:cNvPr id="12" name="Can 11"/>
          <p:cNvSpPr/>
          <p:nvPr/>
        </p:nvSpPr>
        <p:spPr>
          <a:xfrm>
            <a:off x="6949440" y="2231136"/>
            <a:ext cx="118872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066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44752"/>
            <a:ext cx="356616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2027"/>
                </a:solidFill>
              </a:rPr>
              <a:t>Output
Top-5 species
predictions +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47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13632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Classifies hundreds of species simultaneously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Handles hierarchical taxonomy — species / genus / family heads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Optionally fuses geographic coordinates (lat/lon) with image features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Flags uncertain identifications and probable mis-labelled specimens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Runs on RunPod cloud GPU (~$2–4 per training run) or a local CUDA GPU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54787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55A64"/>
                </a:solidFill>
              </a:rPr>
              <a:t>Typical results after 15 epochs on 3 000+ specimens per species: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005072"/>
            <a:ext cx="1828800" cy="118872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85–95 %
Top-1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005072"/>
            <a:ext cx="1828800" cy="11887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&gt; 98 %
Top-5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4005072"/>
            <a:ext cx="1828800" cy="118872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2–5 hrs
Training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Five-Stage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Each stage produces files consumed by the next; all persist to disk so any stage can be re-run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61872"/>
            <a:ext cx="2103120" cy="10515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
Download</a:t>
            </a:r>
          </a:p>
        </p:txBody>
      </p:sp>
      <p:sp>
        <p:nvSpPr>
          <p:cNvPr id="9" name="Can 8"/>
          <p:cNvSpPr/>
          <p:nvPr/>
        </p:nvSpPr>
        <p:spPr>
          <a:xfrm>
            <a:off x="237744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Query GBIF API
Fetch images
Write specsin.csv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261872"/>
            <a:ext cx="2103120" cy="1051560"/>
          </a:xfrm>
          <a:prstGeom prst="roundRect">
            <a:avLst/>
          </a:prstGeom>
          <a:solidFill>
            <a:srgbClr val="006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
Filter &amp;
Crop</a:t>
            </a:r>
          </a:p>
        </p:txBody>
      </p:sp>
      <p:sp>
        <p:nvSpPr>
          <p:cNvPr id="13" name="Can 12"/>
          <p:cNvSpPr/>
          <p:nvPr/>
        </p:nvSpPr>
        <p:spPr>
          <a:xfrm>
            <a:off x="475488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Remove field photos
CLIP zero-shot classify
Crop scanner borders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261872"/>
            <a:ext cx="2103120" cy="1051560"/>
          </a:xfrm>
          <a:prstGeom prst="round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
Resize</a:t>
            </a:r>
          </a:p>
        </p:txBody>
      </p:sp>
      <p:sp>
        <p:nvSpPr>
          <p:cNvPr id="17" name="Can 16"/>
          <p:cNvSpPr/>
          <p:nvPr/>
        </p:nvSpPr>
        <p:spPr>
          <a:xfrm>
            <a:off x="713232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Scale to 1 024 px
GPU-accelerated DALI
or PIL fallback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261872"/>
            <a:ext cx="2103120" cy="105156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
Train</a:t>
            </a:r>
          </a:p>
        </p:txBody>
      </p:sp>
      <p:sp>
        <p:nvSpPr>
          <p:cNvPr id="21" name="Can 20"/>
          <p:cNvSpPr/>
          <p:nvPr/>
        </p:nvSpPr>
        <p:spPr>
          <a:xfrm>
            <a:off x="950976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ViT / EfficientNet
Stage 1 → Stage 2
Checkpoints + nameslist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1261872"/>
            <a:ext cx="2103120" cy="105156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
Identify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Run inference
predictions.csv
Sort indets / flags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42232"/>
            <a:ext cx="11640312" cy="50292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187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</a:rPr>
              <a:t>specsin.csv  —  the project's metadata backbone: one row per specimen, updated at each 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737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5A64"/>
                </a:solidFill>
              </a:rPr>
              <a:t>Persistent file layout under  &lt;ProjectsRoot&gt;/&lt;ProjectName&gt;/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239512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images_cropped/   —  downloaded + filtered images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runs/checkpoints/   —  model weights (.ckpt) + nameslist.json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review/predictions.csv   —  inference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 0 — Project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Configure before running any pipeline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5486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7"/>
                </a:solidFill>
              </a:rPr>
              <a:t>Projects root: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1353312"/>
            <a:ext cx="29260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3716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C:\AIProjects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33502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7"/>
                </a:solidFill>
              </a:rPr>
              <a:t>Project name: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53312"/>
            <a:ext cx="16459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Ebenaceae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353312"/>
            <a:ext cx="1280160" cy="34747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Apply paths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↑  The header bar is always visible — set these first, then click Apply paths.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59152"/>
            <a:ext cx="2743200" cy="228600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Projects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Parent folder that holds all your projects.
Example:  C:\AIProjects  or  D:\herbarium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359152"/>
            <a:ext cx="2743200" cy="228600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Project 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Sub-folder name for this taxon run.
Example:  Ebenaceae
All outputs land in  &lt;root&gt;/&lt;name&gt;/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359152"/>
            <a:ext cx="2743200" cy="2286000"/>
          </a:xfrm>
          <a:prstGeom prst="rect">
            <a:avLst/>
          </a:prstGeom>
          <a:solidFill>
            <a:srgbClr val="B3E5FC"/>
          </a:solidFill>
          <a:ln w="1905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Image folder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Which image sub-folder to use.
Default:  images_cropped
Changed automatically by Apply paths.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359152"/>
            <a:ext cx="2743200" cy="2286000"/>
          </a:xfrm>
          <a:prstGeom prst="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Apply paths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One click fills every stage's
input/output paths correctly.
Do this first after naming the project.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737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Active model  (header card below the tabs)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395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Paste or browse to the .ckpt checkpoint file once training is complete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Used by Quick ID (drag-and-drop single-image identification) and the Identify tab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1 — Download from GBIF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Queries the Global Biodiversity Information Facility API and fetches specimen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Key settings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73352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2821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Taxon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728216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Family, Genus, or Order name
(e.g. Ebenaceae, Diospyros, Ericales)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69464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Geographic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56946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Continent, country, or bounding box
Leave blank for worldwide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55848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41071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specsin.csv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410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Output metadata file — created fresh or
appended if it already exists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97096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519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Output images 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2519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Where downloaded images are saved
(auto-filled by Apply paths)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38344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0932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Limit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0932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Max images to download (leave blank
for full dataset — can be millions)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2618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What Download produces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1673352"/>
            <a:ext cx="2011680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GBIF API
gbif.org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912864" y="2587752"/>
            <a:ext cx="256032" cy="54864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5744" y="27523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5A64"/>
                </a:solidFill>
              </a:rPr>
              <a:t>HTTP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3182112"/>
            <a:ext cx="2011680" cy="9144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specsin.csv
(one row per specimen)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3182112"/>
            <a:ext cx="2560320" cy="9144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images_cropped/
(JPEGs on disk)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37083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5A64"/>
                </a:solidFill>
              </a:rPr>
              <a:t>specsin.csv columns added at download: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736592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catalogNumber, species, family, genus, verbatimName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decimalLatitude, decimalLongitude, countryCode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gbifID, image_url, fname, hasfile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2 — Filter &amp; Crop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Removes non-herbarium images and crops dark scanner borders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What gets removed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2763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🌿 Field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Living-plant photographs taken in the field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35915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🔬 Slides / close-ups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Microscope slides and detail scans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9067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📄 Label-only scans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Pages with no specimen material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2219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🖼 Low-quality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Very dark, blurred, or tiny thumbnails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33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Two filter methods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99432"/>
            <a:ext cx="246888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A2027"/>
                </a:solidFill>
              </a:rPr>
              <a:t>CLIP  (default)
Zero-shot image classification
using a vision-language model
✓ Best accuracy
✗ Requires GPU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4599432"/>
            <a:ext cx="2468880" cy="182880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A2027"/>
                </a:solidFill>
              </a:rPr>
              <a:t>HSV heuristic
Colour-space analysis
for sheet-white backgrounds
✓ CPU-only, fast
✗ Misses coloured mounts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2161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Border cropping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627632"/>
            <a:ext cx="2560320" cy="2560320"/>
          </a:xfrm>
          <a:prstGeom prst="rect">
            <a:avLst/>
          </a:prstGeom>
          <a:solidFill>
            <a:srgbClr val="1A2027"/>
          </a:solidFill>
          <a:ln w="9525">
            <a:solidFill>
              <a:srgbClr val="45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1993392"/>
            <a:ext cx="1828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2336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5A64"/>
                </a:solidFill>
              </a:rPr>
              <a:t>Before
(dark scanner border)</a:t>
            </a:r>
          </a:p>
        </p:txBody>
      </p:sp>
      <p:sp>
        <p:nvSpPr>
          <p:cNvPr id="24" name="Can 23"/>
          <p:cNvSpPr/>
          <p:nvPr/>
        </p:nvSpPr>
        <p:spPr>
          <a:xfrm>
            <a:off x="8915400" y="2779776"/>
            <a:ext cx="82296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1993392"/>
            <a:ext cx="1828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42336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5A64"/>
                </a:solidFill>
              </a:rPr>
              <a:t>After
(borders removed)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965192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55A64"/>
                </a:solidFill>
              </a:rPr>
              <a:t>Rejected images are moved to  images_cropped/rejected/  (field photos → live/)
not deleted — you can inspect and recover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3 — Resize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Standardises image dimensions so the training data-loader can form uniform batches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7132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Scales every image so its longest edge ≤ 1 024 px  (configurable via --max-size)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Maintains aspect ratio — no distortion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Uses NVIDIA DALI GPU pipeline when available; falls back to PIL on CPU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Overwrites images in-place (--in-place) or writes to a separate output folder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Images already smaller than the target are left unchanged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39312"/>
            <a:ext cx="2286000" cy="2286000"/>
          </a:xfrm>
          <a:prstGeom prst="rect">
            <a:avLst/>
          </a:prstGeom>
          <a:solidFill>
            <a:srgbClr val="E65C0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595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Raw scan
~4 000 px</a:t>
            </a:r>
          </a:p>
        </p:txBody>
      </p:sp>
      <p:sp>
        <p:nvSpPr>
          <p:cNvPr id="11" name="Can 10"/>
          <p:cNvSpPr/>
          <p:nvPr/>
        </p:nvSpPr>
        <p:spPr>
          <a:xfrm>
            <a:off x="3291840" y="4654296"/>
            <a:ext cx="45720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4325112"/>
            <a:ext cx="914400" cy="914400"/>
          </a:xfrm>
          <a:prstGeom prst="rect">
            <a:avLst/>
          </a:prstGeom>
          <a:solidFill>
            <a:srgbClr val="00897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555955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Resized
1 024 px</a:t>
            </a:r>
          </a:p>
        </p:txBody>
      </p:sp>
      <p:sp>
        <p:nvSpPr>
          <p:cNvPr id="14" name="Can 13"/>
          <p:cNvSpPr/>
          <p:nvPr/>
        </p:nvSpPr>
        <p:spPr>
          <a:xfrm>
            <a:off x="4846320" y="4654296"/>
            <a:ext cx="45720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4485132"/>
            <a:ext cx="594360" cy="594360"/>
          </a:xfrm>
          <a:prstGeom prst="rect">
            <a:avLst/>
          </a:prstGeom>
          <a:solidFill>
            <a:srgbClr val="015F9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555955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Model input
640 px  (--image-sz)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2618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Why 1 024 px?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73352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Herbarium scans carry fine detail (venation, surface texture)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ViT-Large with --image-sz 640 still sees far more detail than most photo datasets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GPU VRAM is the bottleneck — 1 024 px source with 640 px training crop is the sweet spot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Batch size 4–8 fits in 20 GB VRAM at 640 px; reduce to 2–4 at 768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55A64"/>
                </a:solidFill>
              </a:rPr>
              <a:t>Tip  — you can skip this step entirely if images are already ≤ 1 024 px or if VRAM allows full-res.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4 — Train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Multi-stage fine-tuning of a pretrained vision model on your labelled herbarium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16152"/>
            <a:ext cx="3474720" cy="685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Stage 1
Warm-up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Backbone frozen
Head only  ·  4 epochs
LR ~ 0.005</a:t>
            </a:r>
          </a:p>
        </p:txBody>
      </p:sp>
      <p:sp>
        <p:nvSpPr>
          <p:cNvPr id="11" name="Can 10"/>
          <p:cNvSpPr/>
          <p:nvPr/>
        </p:nvSpPr>
        <p:spPr>
          <a:xfrm>
            <a:off x="3840480" y="1426464"/>
            <a:ext cx="3657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216152"/>
            <a:ext cx="3474720" cy="6858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Stage 2
Fine-tune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All layers train
15–50 epochs
LR ~ 0.0001</a:t>
            </a:r>
          </a:p>
        </p:txBody>
      </p:sp>
      <p:sp>
        <p:nvSpPr>
          <p:cNvPr id="15" name="Can 14"/>
          <p:cNvSpPr/>
          <p:nvPr/>
        </p:nvSpPr>
        <p:spPr>
          <a:xfrm>
            <a:off x="7680960" y="1426464"/>
            <a:ext cx="3657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216152"/>
            <a:ext cx="3474720" cy="68580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Cool-down
(optional)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Reduced batch + LR
Final polishing
Saves best-cd.ckpt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1821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Key hyperparameters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vit_large_patch16_dinov2
(default)
or efficientnet_b4 for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Image size
--image-sz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640 px  (default)
768 for highest accuracy
512 for low VRAM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4–8 on RTX 4090
Increase --grad-accum
to compensate if reduced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Stage 2 epochs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15 (quick test)
30 for production
50 for large datasets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Outputs:  runs/checkpoints/last.ckpt  ·  runs/checkpoints/epoch=XX-valid_loss=X.ckpt  ·  runs/nameslist.json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5 — Identify &amp;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Run inference on your images, inspect results, and correct any mislabelled specimens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Identify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9344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Point to your checkpoint (.ckpt) and specsin.csv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Outputs  review/predictions.csv  with top-5 predictions + confidence per image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Flags images where the top prediction differs from the recorded label  (mismatch column)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Sorts unidentified specimens (indet) by prediction confidence into  review/indets/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1615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Review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09344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Browse images with their predictions side-by-side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Click a prediction to confirm or correct the label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Changes saved back to  predictions.csv  in real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0906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Analysis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83864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Load  predictions.csv  to plot confusion matrix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Per-species accuracy, top confusions, recall vs.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8221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predictions.csv columns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5648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true_label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45536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top_pred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35424" y="42336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top_conf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pred_2 … pred_5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5648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conf_2 … conf_5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5536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flagged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mismatch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Run All — Full Pipeline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Executes all five stages in sequence; can be paused, cancelled, and resumed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53312"/>
            <a:ext cx="2148840" cy="64008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Download</a:t>
            </a:r>
          </a:p>
        </p:txBody>
      </p:sp>
      <p:sp>
        <p:nvSpPr>
          <p:cNvPr id="9" name="Can 8"/>
          <p:cNvSpPr/>
          <p:nvPr/>
        </p:nvSpPr>
        <p:spPr>
          <a:xfrm>
            <a:off x="2514600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79" y="1353312"/>
            <a:ext cx="2148840" cy="640080"/>
          </a:xfrm>
          <a:prstGeom prst="roundRect">
            <a:avLst/>
          </a:prstGeom>
          <a:solidFill>
            <a:srgbClr val="006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Filter &amp; Crop</a:t>
            </a:r>
          </a:p>
        </p:txBody>
      </p:sp>
      <p:sp>
        <p:nvSpPr>
          <p:cNvPr id="11" name="Can 10"/>
          <p:cNvSpPr/>
          <p:nvPr/>
        </p:nvSpPr>
        <p:spPr>
          <a:xfrm>
            <a:off x="4846319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353312"/>
            <a:ext cx="2148840" cy="64008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Resize</a:t>
            </a:r>
          </a:p>
        </p:txBody>
      </p:sp>
      <p:sp>
        <p:nvSpPr>
          <p:cNvPr id="13" name="Can 12"/>
          <p:cNvSpPr/>
          <p:nvPr/>
        </p:nvSpPr>
        <p:spPr>
          <a:xfrm>
            <a:off x="7178040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19" y="1353312"/>
            <a:ext cx="2148840" cy="64008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Train</a:t>
            </a:r>
          </a:p>
        </p:txBody>
      </p:sp>
      <p:sp>
        <p:nvSpPr>
          <p:cNvPr id="15" name="Can 14"/>
          <p:cNvSpPr/>
          <p:nvPr/>
        </p:nvSpPr>
        <p:spPr>
          <a:xfrm>
            <a:off x="9509759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1353312"/>
            <a:ext cx="2148840" cy="64008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21992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Each stage checks whether its output already exists — skips completed stages automatically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If a stage fails, fix the issue and restart Run All; completed stages are not repeated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The Stop button cancels the current stage cleanly (no partial-write corruption)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In Cloud mode the orchestrator runs all stages on the pod; progress streams to the Output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87952"/>
            <a:ext cx="5486400" cy="2194560"/>
          </a:xfrm>
          <a:prstGeom prst="rect">
            <a:avLst/>
          </a:prstGeom>
          <a:solidFill>
            <a:srgbClr val="E0F2F1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611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Local 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26864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Scripts run on your own machine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Needs CUDA GPU for training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No account setup beyond GBIF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Output stays in your project folder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187952"/>
            <a:ext cx="5486400" cy="2194560"/>
          </a:xfrm>
          <a:prstGeom prst="rect">
            <a:avLst/>
          </a:prstGeom>
          <a:solidFill>
            <a:srgbClr val="B3E5FC"/>
          </a:solidFill>
          <a:ln w="9525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2611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Cloud mode  (☁)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626864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Orchestrator provisions a RunPod pod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Streams output to the web UI log panel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Archives results to Cloudflare R2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Pod can be terminated when done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-914400"/>
            <a:ext cx="2743200" cy="274320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Cloud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80CBC4"/>
                </a:solidFill>
              </a:rPr>
              <a:t>GPU training on RunPod · Storage on Cloudflare R2 · Orchestrated from your browser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Cloud vs Local — Choosing a Mode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16152"/>
            <a:ext cx="219456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289304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216152"/>
            <a:ext cx="457200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28930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Cloud mode  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216152"/>
            <a:ext cx="457200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96912" y="128930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Local mode  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01368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1874520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GPU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801368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9192" y="1874520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RunPod RTX 4090 (provisioned on demand)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801368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874520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Your own NVIDIA GPU (≥ 20 GB VRAM recommended)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86584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459736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2386584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9192" y="245973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~$2–4 per training run  (pod time + R2 storage)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386584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245973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Electricity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3044952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Setup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40" y="2971800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9192" y="3044952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RunPod + R2 accounts, SSH key, API keys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971800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96912" y="3044952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conda env + CUDA drivers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57016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630168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Data storage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40" y="3557016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9192" y="3630168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Network volume on pod + Cloudflare R2 archive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557016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96912" y="3630168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Local disk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142232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4215384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Monitoring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06040" y="4142232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79192" y="421538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Live log stream in browser from any device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42232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6912" y="421538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Terminal / Output panel on same machine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727447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4800599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Resuming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40" y="4727447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79192" y="4800599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Archive to R2 → restore later with restore_local.py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727447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6912" y="4800599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Checkpoint on disk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312664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5385816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Best for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06040" y="5312664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79192" y="538581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Long runs, no local GPU, remote collaboration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12664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96912" y="538581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Quick iteration, offline, sensitive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Three main components communicate over the internet; your browser is the control plane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44752"/>
            <a:ext cx="3017520" cy="2926080"/>
          </a:xfrm>
          <a:prstGeom prst="rect">
            <a:avLst/>
          </a:prstGeom>
          <a:solidFill>
            <a:srgbClr val="E0F2F1"/>
          </a:solidFill>
          <a:ln w="2540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1790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Your PC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47672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Web UI (browser)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Orchestrator process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rclone (restore)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SSH key</a:t>
            </a:r>
          </a:p>
        </p:txBody>
      </p:sp>
      <p:sp>
        <p:nvSpPr>
          <p:cNvPr id="11" name="Can 10"/>
          <p:cNvSpPr/>
          <p:nvPr/>
        </p:nvSpPr>
        <p:spPr>
          <a:xfrm>
            <a:off x="3246120" y="2414016"/>
            <a:ext cx="128016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24942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SSH / SFTP</a:t>
            </a:r>
          </a:p>
        </p:txBody>
      </p:sp>
      <p:sp>
        <p:nvSpPr>
          <p:cNvPr id="13" name="Can 12"/>
          <p:cNvSpPr/>
          <p:nvPr/>
        </p:nvSpPr>
        <p:spPr>
          <a:xfrm>
            <a:off x="3246120" y="2825496"/>
            <a:ext cx="12801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6090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log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44752"/>
            <a:ext cx="3566160" cy="2926080"/>
          </a:xfrm>
          <a:prstGeom prst="rect">
            <a:avLst/>
          </a:prstGeom>
          <a:solidFill>
            <a:srgbClr val="B3E5FC"/>
          </a:solidFill>
          <a:ln w="2540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51790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5F9B"/>
                </a:solidFill>
              </a:rPr>
              <a:t>RunPod GPU Pod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94767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RTX 4090 / A100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Download  ·  Filter  ·  Resize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Train  ·  Identify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rclone (archive to R2)</a:t>
            </a:r>
          </a:p>
        </p:txBody>
      </p:sp>
      <p:sp>
        <p:nvSpPr>
          <p:cNvPr id="18" name="Can 17"/>
          <p:cNvSpPr/>
          <p:nvPr/>
        </p:nvSpPr>
        <p:spPr>
          <a:xfrm>
            <a:off x="8321040" y="2414016"/>
            <a:ext cx="1188720" cy="256032"/>
          </a:xfrm>
          <a:prstGeom prst="can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24942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 copy</a:t>
            </a:r>
          </a:p>
        </p:txBody>
      </p:sp>
      <p:sp>
        <p:nvSpPr>
          <p:cNvPr id="20" name="Can 19"/>
          <p:cNvSpPr/>
          <p:nvPr/>
        </p:nvSpPr>
        <p:spPr>
          <a:xfrm>
            <a:off x="8321040" y="2825496"/>
            <a:ext cx="1188720" cy="256032"/>
          </a:xfrm>
          <a:prstGeom prst="can">
            <a:avLst/>
          </a:prstGeom>
          <a:solidFill>
            <a:srgbClr val="FFC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6609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 restore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1444752"/>
            <a:ext cx="2377440" cy="2926080"/>
          </a:xfrm>
          <a:prstGeom prst="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5179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5C00"/>
                </a:solidFill>
              </a:rPr>
              <a:t>Cloudflare R2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47672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checkpoints/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images.tar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specsin.csv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nameslist.json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318504" y="4370832"/>
            <a:ext cx="256032" cy="45720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5079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5A64"/>
                </a:solidFill>
              </a:rPr>
              <a:t>HTTP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4873752"/>
            <a:ext cx="3566160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E7D32"/>
                </a:solidFill>
              </a:rPr>
              <a:t>GBIF API
(specimen records + image URLs)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436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Note: the orchestrator runs on Your PC and issues commands to the pod over SSH.  The web UI is also served locally — your browser connects to localhost:8765.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Download &amp; Prepare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GBIF → Pod disk  →  R2 archive  (stages 1 –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16152"/>
            <a:ext cx="2194560" cy="54864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  Provision</a:t>
            </a:r>
          </a:p>
        </p:txBody>
      </p:sp>
      <p:sp>
        <p:nvSpPr>
          <p:cNvPr id="9" name="Can 8"/>
          <p:cNvSpPr/>
          <p:nvPr/>
        </p:nvSpPr>
        <p:spPr>
          <a:xfrm>
            <a:off x="242316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Orchestrator calls RunPod API.
Pod boots, SSH comes up (~2 min).
rclone config pushed to pod.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16152"/>
            <a:ext cx="2194560" cy="5486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  Download</a:t>
            </a:r>
          </a:p>
        </p:txBody>
      </p:sp>
      <p:sp>
        <p:nvSpPr>
          <p:cNvPr id="13" name="Can 12"/>
          <p:cNvSpPr/>
          <p:nvPr/>
        </p:nvSpPr>
        <p:spPr>
          <a:xfrm>
            <a:off x="480060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Pod queries GBIF API.
Images fetched in parallel threads.
specsin.csv built incrementally.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216152"/>
            <a:ext cx="2194560" cy="54864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  Filter &amp; Crop</a:t>
            </a:r>
          </a:p>
        </p:txBody>
      </p:sp>
      <p:sp>
        <p:nvSpPr>
          <p:cNvPr id="17" name="Can 16"/>
          <p:cNvSpPr/>
          <p:nvPr/>
        </p:nvSpPr>
        <p:spPr>
          <a:xfrm>
            <a:off x="717804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CLIP runs on pod GPU.
Non-herbarium images moved to rejected/.
Borders cropped.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216152"/>
            <a:ext cx="2194560" cy="54864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  Resize</a:t>
            </a:r>
          </a:p>
        </p:txBody>
      </p:sp>
      <p:sp>
        <p:nvSpPr>
          <p:cNvPr id="21" name="Can 20"/>
          <p:cNvSpPr/>
          <p:nvPr/>
        </p:nvSpPr>
        <p:spPr>
          <a:xfrm>
            <a:off x="955548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DALI GPU pipeline scales images.
Images overwritten in-place.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216152"/>
            <a:ext cx="2194560" cy="54864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  Archive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rclone copies images.tar + specsin.csv
to R2.  Pod can now be
terminated safely.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77647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Where data lives after each phase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87952"/>
            <a:ext cx="3566160" cy="1920240"/>
          </a:xfrm>
          <a:prstGeom prst="rect">
            <a:avLst/>
          </a:prstGeom>
          <a:solidFill>
            <a:srgbClr val="B3E5FC"/>
          </a:solidFill>
          <a:ln w="1905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15F9B"/>
                </a:solidFill>
              </a:rPr>
              <a:t>Pod network
volume
/workspace/data/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images_cropped/
specsin.csv
(temporary)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187952"/>
            <a:ext cx="3566160" cy="1920240"/>
          </a:xfrm>
          <a:prstGeom prst="rect">
            <a:avLst/>
          </a:prstGeom>
          <a:solidFill>
            <a:srgbClr val="F0F2F4"/>
          </a:solidFill>
          <a:ln w="1905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48C"/>
                </a:solidFill>
              </a:rPr>
              <a:t>Pod ephemeral
/workspace/data/
(deleted on terminate)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images_1024/
resized images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187952"/>
            <a:ext cx="3566160" cy="1920240"/>
          </a:xfrm>
          <a:prstGeom prst="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Cloudflare R2
herbarium-backup/
&lt;project&gt;/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images.tar
specsin.csv
(permanent)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Training &amp; Archive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Stage 4: pod GPU reads images, writes checkpoints; R2 stores the final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353312"/>
            <a:ext cx="4572000" cy="2743200"/>
          </a:xfrm>
          <a:prstGeom prst="rect">
            <a:avLst/>
          </a:prstGeom>
          <a:solidFill>
            <a:srgbClr val="B3E5FC"/>
          </a:solidFill>
          <a:ln w="2540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RunPod GPU Pod  —  Training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1901952"/>
            <a:ext cx="1645920" cy="91440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DataLoader
reads batches
from disk</a:t>
            </a:r>
          </a:p>
        </p:txBody>
      </p:sp>
      <p:sp>
        <p:nvSpPr>
          <p:cNvPr id="11" name="Can 10"/>
          <p:cNvSpPr/>
          <p:nvPr/>
        </p:nvSpPr>
        <p:spPr>
          <a:xfrm>
            <a:off x="3246119" y="2231136"/>
            <a:ext cx="548640" cy="256032"/>
          </a:xfrm>
          <a:prstGeom prst="can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901952"/>
            <a:ext cx="1828800" cy="91440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ViT-Large
forward + backward
GPU compute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626864" y="2816352"/>
            <a:ext cx="256032" cy="731520"/>
          </a:xfrm>
          <a:prstGeom prst="downArrow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93592"/>
            <a:ext cx="1828800" cy="4572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Checkpoint
.ckpt saved
per epoch</a:t>
            </a:r>
          </a:p>
        </p:txBody>
      </p:sp>
      <p:sp>
        <p:nvSpPr>
          <p:cNvPr id="15" name="Can 14"/>
          <p:cNvSpPr/>
          <p:nvPr/>
        </p:nvSpPr>
        <p:spPr>
          <a:xfrm>
            <a:off x="6035040" y="2596896"/>
            <a:ext cx="1188720" cy="256032"/>
          </a:xfrm>
          <a:prstGeom prst="can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4323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
(best ckpt)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1353312"/>
            <a:ext cx="2286000" cy="2743200"/>
          </a:xfrm>
          <a:prstGeom prst="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14447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R2
herbarium-backup/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1993392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last.ckpt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best epoch ckpt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nameslist.json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specsin.csv</a:t>
            </a:r>
          </a:p>
        </p:txBody>
      </p:sp>
      <p:sp>
        <p:nvSpPr>
          <p:cNvPr id="20" name="Can 19"/>
          <p:cNvSpPr/>
          <p:nvPr/>
        </p:nvSpPr>
        <p:spPr>
          <a:xfrm>
            <a:off x="9784080" y="2596896"/>
            <a:ext cx="137160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4323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restore_local.py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47120" y="2176272"/>
            <a:ext cx="7315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Your PC
(for Review)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325112"/>
            <a:ext cx="4572000" cy="1005840"/>
          </a:xfrm>
          <a:prstGeom prst="rect">
            <a:avLst/>
          </a:prstGeom>
          <a:solidFill>
            <a:srgbClr val="F0F2F4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438912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F00"/>
                </a:solidFill>
              </a:rPr>
              <a:t>Optional: WandB live logging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18304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Metrics stream from pod → WandB cloud → your browser
Set WandB API key in the Setup tab to enable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513832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Stage 1  (4 epochs, head only)  →  Stage 2  (15–50 epochs, full fine-tune)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Best-epoch checkpoint is identified by valid_loss and archived to R2 after Stage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Resume from checkpoint: if  last.ckpt  exists, Stage 1 is skipped automatically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Restore &amp; Local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Pull a completed project from R2 to your PC for inspection and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16152"/>
            <a:ext cx="2194560" cy="5943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Run
restore_local.py</a:t>
            </a:r>
          </a:p>
        </p:txBody>
      </p:sp>
      <p:sp>
        <p:nvSpPr>
          <p:cNvPr id="9" name="Can 8"/>
          <p:cNvSpPr/>
          <p:nvPr/>
        </p:nvSpPr>
        <p:spPr>
          <a:xfrm>
            <a:off x="242316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Reads R2 credentials
from OS keyring.
No rclone.conf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16152"/>
            <a:ext cx="2194560" cy="59436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Download
checkpoints/</a:t>
            </a:r>
          </a:p>
        </p:txBody>
      </p:sp>
      <p:sp>
        <p:nvSpPr>
          <p:cNvPr id="13" name="Can 12"/>
          <p:cNvSpPr/>
          <p:nvPr/>
        </p:nvSpPr>
        <p:spPr>
          <a:xfrm>
            <a:off x="480060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last.ckpt + nameslist.json
pulled from
R2 → local disk.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216152"/>
            <a:ext cx="2194560" cy="5943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Download
specsin.csv</a:t>
            </a:r>
          </a:p>
        </p:txBody>
      </p:sp>
      <p:sp>
        <p:nvSpPr>
          <p:cNvPr id="17" name="Can 16"/>
          <p:cNvSpPr/>
          <p:nvPr/>
        </p:nvSpPr>
        <p:spPr>
          <a:xfrm>
            <a:off x="717804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Project metadata
restored to
target folder.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216152"/>
            <a:ext cx="219456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Extract
images.tar</a:t>
            </a:r>
          </a:p>
        </p:txBody>
      </p:sp>
      <p:sp>
        <p:nvSpPr>
          <p:cNvPr id="21" name="Can 20"/>
          <p:cNvSpPr/>
          <p:nvPr/>
        </p:nvSpPr>
        <p:spPr>
          <a:xfrm>
            <a:off x="955548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Full image set
extracted to
images/ folder.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216152"/>
            <a:ext cx="2194560" cy="59436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
web UI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Point Active model
to the .ckpt, click
Apply paths → Identify.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593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Restore command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59352"/>
            <a:ext cx="11155680" cy="594360"/>
          </a:xfrm>
          <a:prstGeom prst="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05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python restore_local.py  --project Ebenaceae  --target C:\AIProjects\Ebenaceae  --remote r2:herbarium-backup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7823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55A64"/>
                </a:solidFill>
              </a:rPr>
              <a:t>After restore the target folder contains: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148071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checkpoints/last.ckpt  +  nameslist.json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specsin.csv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images/   (full image set)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predictions/   (if already run Identify)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78231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Then in the web UI: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148071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Header → Active model → browse to  last.ckpt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Header → Projects root + Project name → Apply paths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Identify tab → Run  (generates predictions.csv)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Review tab → inspect predictions, correct labels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Analysis tab → confusion matrix + per-species accuracy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Getting Started — Quick-Start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Accounts &amp;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27632"/>
            <a:ext cx="1463040" cy="530352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Cloudflare 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7190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Sign up · create herbarium-backup bucket · generate API token (Read &amp; Edit)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13432"/>
            <a:ext cx="1463040" cy="530352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RunPod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4048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Sign up · add billing · create API key (rpa_…) · register SSH public 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999232"/>
            <a:ext cx="1463040" cy="530352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WandB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906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Optional — free for academic use · get API key for live training graphs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307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One-time local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96512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Generate SSH key:   ssh-keygen -t ed25519 -f %USERPROFILE%\.ssh\id_ed25519_herbarium -N ""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Register the .pub content at RunPod → Settings → SSH Public Keys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Enter keys in the web UI ⚙ Setup tab and click Save for each section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Run  python herbarium_pipeline_webui.py  — opens at http://localhost:8765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21615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First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27632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0078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Set Projects root and Project name in the header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194560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26771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Click Apply paths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61488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Download tab → choose a Family (start small: limit 200)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328416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0156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Filter &amp; Crop tab →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895344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96849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Resize tab → 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62272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53542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Train tab → set Stage 2 epochs to 5 for a test 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029200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10235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Identify tab → Run and check predictions.csv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