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371600"/>
            <a:ext cx="7406640" cy="3840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371600"/>
            <a:ext cx="109728" cy="384048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600200"/>
            <a:ext cx="6766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00695C"/>
                </a:solidFill>
              </a:rPr>
              <a:t>Herbarium Classification
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926080"/>
            <a:ext cx="6766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55A64"/>
                </a:solidFill>
              </a:rPr>
              <a:t>A guided walkthrough: downloading specimen images,
filtering, training a deep learning model, and reviewing results.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4434840"/>
            <a:ext cx="1170432" cy="594360"/>
          </a:xfrm>
          <a:prstGeom prst="round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1
Download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59152" y="4434840"/>
            <a:ext cx="1170432" cy="59436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2
Filter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21024" y="4434840"/>
            <a:ext cx="1170432" cy="594360"/>
          </a:xfrm>
          <a:prstGeom prst="roundRect">
            <a:avLst/>
          </a:prstGeom>
          <a:solidFill>
            <a:srgbClr val="00A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3
Resized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82896" y="4434840"/>
            <a:ext cx="1170432" cy="594360"/>
          </a:xfrm>
          <a:prstGeom prst="round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4
Train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44768" y="4434840"/>
            <a:ext cx="1170432" cy="594360"/>
          </a:xfrm>
          <a:prstGeom prst="roundRect">
            <a:avLst/>
          </a:prstGeom>
          <a:solidFill>
            <a:srgbClr val="80C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5
Identify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0" y="914400"/>
            <a:ext cx="3474720" cy="5212080"/>
          </a:xfrm>
          <a:prstGeom prst="rect">
            <a:avLst/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0" y="146304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0" i="0">
                <a:solidFill>
                  <a:srgbClr val="1A2027"/>
                </a:solidFill>
              </a:rPr>
              <a:t>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1080" y="3474720"/>
            <a:ext cx="3017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455A64"/>
                </a:solidFill>
              </a:rPr>
              <a:t>• 100s of species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455A64"/>
                </a:solidFill>
              </a:rPr>
              <a:t>• Herbarium scans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455A64"/>
                </a:solidFill>
              </a:rPr>
              <a:t>• GPU-accelerated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455A64"/>
                </a:solidFill>
              </a:rPr>
              <a:t>• Cloud or local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0CBC4"/>
                </a:solidFill>
              </a:rPr>
              <a:t>George Gosline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11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What You'll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0CBC4"/>
                </a:solidFill>
              </a:rPr>
              <a:t>A trained deep learning model that identifies plant species from herbarium specimen images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2881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5A64"/>
                </a:solidFill>
              </a:rPr>
              <a:t>Herbarium Classification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444752"/>
            <a:ext cx="2743200" cy="1828800"/>
          </a:xfrm>
          <a:prstGeom prst="roundRect">
            <a:avLst/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A2027"/>
                </a:solidFill>
              </a:rPr>
              <a:t>Input
Herbarium scans
(any scanner format)</a:t>
            </a:r>
          </a:p>
        </p:txBody>
      </p:sp>
      <p:sp>
        <p:nvSpPr>
          <p:cNvPr id="9" name="Can 8"/>
          <p:cNvSpPr/>
          <p:nvPr/>
        </p:nvSpPr>
        <p:spPr>
          <a:xfrm>
            <a:off x="3200400" y="2231136"/>
            <a:ext cx="1188720" cy="256032"/>
          </a:xfrm>
          <a:prstGeom prst="can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2066544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55A64"/>
                </a:solidFill>
              </a:rPr>
              <a:t>train model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1444752"/>
            <a:ext cx="2377440" cy="182880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Model
checkpoint
(.ckpt)</a:t>
            </a:r>
          </a:p>
        </p:txBody>
      </p:sp>
      <p:sp>
        <p:nvSpPr>
          <p:cNvPr id="12" name="Can 11"/>
          <p:cNvSpPr/>
          <p:nvPr/>
        </p:nvSpPr>
        <p:spPr>
          <a:xfrm>
            <a:off x="6949440" y="2231136"/>
            <a:ext cx="1188720" cy="256032"/>
          </a:xfrm>
          <a:prstGeom prst="can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0" y="2066544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55A64"/>
                </a:solidFill>
              </a:rPr>
              <a:t>inference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1444752"/>
            <a:ext cx="3566160" cy="1828800"/>
          </a:xfrm>
          <a:prstGeom prst="roundRect">
            <a:avLst/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A2027"/>
                </a:solidFill>
              </a:rPr>
              <a:t>Output
Top-5 species
predictions + confidence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547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95C"/>
                </a:solidFill>
              </a:rPr>
              <a:t>Capabilities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13632"/>
            <a:ext cx="5303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Classifies hundreds of species simultaneously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Handles hierarchical taxonomy — species / genus / family heads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Optionally fuses geographic coordinates (lat/lon) with image features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Flags uncertain identifications and probable mis-labelled specimens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Runs on RunPod cloud GPU (~$2–4 per training run) or a local CUDA GPU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547872"/>
            <a:ext cx="5852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55A64"/>
                </a:solidFill>
              </a:rPr>
              <a:t>Typical results after 15 epochs on 3 000+ specimens per species: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4005072"/>
            <a:ext cx="1828800" cy="1188720"/>
          </a:xfrm>
          <a:prstGeom prst="round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85–95 %
Top-1 accuracy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4005072"/>
            <a:ext cx="1828800" cy="118872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&gt; 98 %
Top-5 accuracy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966960" y="4005072"/>
            <a:ext cx="1828800" cy="1188720"/>
          </a:xfrm>
          <a:prstGeom prst="roundRect">
            <a:avLst/>
          </a:prstGeom>
          <a:solidFill>
            <a:srgbClr val="015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2–5 hrs
Training time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11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The Five-Stage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0CBC4"/>
                </a:solidFill>
              </a:rPr>
              <a:t>Each stage produces files consumed by the next; all persist to disk so any stage can be re-run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2881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5A64"/>
                </a:solidFill>
              </a:rPr>
              <a:t>Herbarium Classification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261872"/>
            <a:ext cx="2103120" cy="1051560"/>
          </a:xfrm>
          <a:prstGeom prst="round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
Download</a:t>
            </a:r>
          </a:p>
        </p:txBody>
      </p:sp>
      <p:sp>
        <p:nvSpPr>
          <p:cNvPr id="9" name="Can 8"/>
          <p:cNvSpPr/>
          <p:nvPr/>
        </p:nvSpPr>
        <p:spPr>
          <a:xfrm>
            <a:off x="2377440" y="1636776"/>
            <a:ext cx="274320" cy="256032"/>
          </a:xfrm>
          <a:prstGeom prst="can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450592"/>
            <a:ext cx="2103120" cy="146304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496312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Query GBIF API
Fetch images
Write specsin.csv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1760" y="1261872"/>
            <a:ext cx="2103120" cy="1051560"/>
          </a:xfrm>
          <a:prstGeom prst="roundRect">
            <a:avLst/>
          </a:prstGeom>
          <a:solidFill>
            <a:srgbClr val="006E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
Filter &amp;
Crop</a:t>
            </a:r>
          </a:p>
        </p:txBody>
      </p:sp>
      <p:sp>
        <p:nvSpPr>
          <p:cNvPr id="13" name="Can 12"/>
          <p:cNvSpPr/>
          <p:nvPr/>
        </p:nvSpPr>
        <p:spPr>
          <a:xfrm>
            <a:off x="4754880" y="1636776"/>
            <a:ext cx="274320" cy="256032"/>
          </a:xfrm>
          <a:prstGeom prst="can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51760" y="2450592"/>
            <a:ext cx="2103120" cy="146304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0" y="2496312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Remove field photos
CLIP zero-shot classify
Crop scanner borders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0" y="1261872"/>
            <a:ext cx="2103120" cy="1051560"/>
          </a:xfrm>
          <a:prstGeom prst="roundRect">
            <a:avLst/>
          </a:prstGeom>
          <a:solidFill>
            <a:srgbClr val="0157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
Resize</a:t>
            </a:r>
          </a:p>
        </p:txBody>
      </p:sp>
      <p:sp>
        <p:nvSpPr>
          <p:cNvPr id="17" name="Can 16"/>
          <p:cNvSpPr/>
          <p:nvPr/>
        </p:nvSpPr>
        <p:spPr>
          <a:xfrm>
            <a:off x="7132320" y="1636776"/>
            <a:ext cx="274320" cy="256032"/>
          </a:xfrm>
          <a:prstGeom prst="can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0" y="2450592"/>
            <a:ext cx="2103120" cy="146304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0" y="2496312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Scale to 1 024 px
GPU-accelerated DALI
or PIL fallback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06640" y="1261872"/>
            <a:ext cx="2103120" cy="1051560"/>
          </a:xfrm>
          <a:prstGeom prst="roundRect">
            <a:avLst/>
          </a:prstGeom>
          <a:solidFill>
            <a:srgbClr val="4A1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
Train</a:t>
            </a:r>
          </a:p>
        </p:txBody>
      </p:sp>
      <p:sp>
        <p:nvSpPr>
          <p:cNvPr id="21" name="Can 20"/>
          <p:cNvSpPr/>
          <p:nvPr/>
        </p:nvSpPr>
        <p:spPr>
          <a:xfrm>
            <a:off x="9509760" y="1636776"/>
            <a:ext cx="274320" cy="256032"/>
          </a:xfrm>
          <a:prstGeom prst="can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2450592"/>
            <a:ext cx="2103120" cy="146304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0" y="2496312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ViT / EfficientNet
Stage 1 → Stage 2
Checkpoints + nameslist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784080" y="1261872"/>
            <a:ext cx="2103120" cy="105156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5
Identify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84080" y="2450592"/>
            <a:ext cx="2103120" cy="146304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5520" y="2496312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Run inference
predictions.csv
Sort indets / flags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4142232"/>
            <a:ext cx="11640312" cy="502920"/>
          </a:xfrm>
          <a:prstGeom prst="rect">
            <a:avLst/>
          </a:prstGeom>
          <a:solidFill>
            <a:srgbClr val="E0F2F1"/>
          </a:solidFill>
          <a:ln w="9525">
            <a:solidFill>
              <a:srgbClr val="80C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18795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695C"/>
                </a:solidFill>
              </a:rPr>
              <a:t>specsin.csv  —  the project's metadata backbone: one row per specimen, updated at each stage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487375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55A64"/>
                </a:solidFill>
              </a:rPr>
              <a:t>Persistent file layout under  &lt;ProjectsRoot&gt;/&lt;ProjectName&gt;/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" y="5239512"/>
            <a:ext cx="7772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455A64"/>
                </a:solidFill>
              </a:rPr>
              <a:t>• images_cropped/   —  downloaded + filtered images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55A64"/>
                </a:solidFill>
              </a:rPr>
              <a:t>• runs/checkpoints/   —  model weights (.ckpt) + nameslist.json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55A64"/>
                </a:solidFill>
              </a:rPr>
              <a:t>• review/predictions.csv   —  inference results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11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Step 0 — Project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0CBC4"/>
                </a:solidFill>
              </a:rPr>
              <a:t>Configure before running any pipeline stage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2881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5A64"/>
                </a:solidFill>
              </a:rPr>
              <a:t>Herbarium Classification Pipeline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61872"/>
            <a:ext cx="11430000" cy="54864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335024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027"/>
                </a:solidFill>
              </a:rPr>
              <a:t>Projects root: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20240" y="1353312"/>
            <a:ext cx="292608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1371600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C:\AIProjects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1335024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027"/>
                </a:solidFill>
              </a:rPr>
              <a:t>Project name: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353312"/>
            <a:ext cx="16459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371600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Ebenaceae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0" y="1353312"/>
            <a:ext cx="1280160" cy="347472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Apply paths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55A64"/>
                </a:solidFill>
              </a:rPr>
              <a:t>↑  The header bar is always visible — set these first, then click Apply paths.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359152"/>
            <a:ext cx="2743200" cy="2286000"/>
          </a:xfrm>
          <a:prstGeom prst="rect">
            <a:avLst/>
          </a:prstGeom>
          <a:solidFill>
            <a:srgbClr val="E0F2F1"/>
          </a:solidFill>
          <a:ln w="19050">
            <a:solidFill>
              <a:srgbClr val="0069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45059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695C"/>
                </a:solidFill>
              </a:rPr>
              <a:t>Projects root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2816352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Parent folder that holds all your projects.
Example:  C:\AIProjects  or  D:\herbarium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91840" y="2359152"/>
            <a:ext cx="2743200" cy="2286000"/>
          </a:xfrm>
          <a:prstGeom prst="rect">
            <a:avLst/>
          </a:prstGeom>
          <a:solidFill>
            <a:srgbClr val="E0F2F1"/>
          </a:solidFill>
          <a:ln w="19050">
            <a:solidFill>
              <a:srgbClr val="0069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29000" y="245059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695C"/>
                </a:solidFill>
              </a:rPr>
              <a:t>Project name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29000" y="2816352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Sub-folder name for this taxon run.
Example:  Ebenaceae
All outputs land in  &lt;root&gt;/&lt;name&gt;/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2359152"/>
            <a:ext cx="2743200" cy="2286000"/>
          </a:xfrm>
          <a:prstGeom prst="rect">
            <a:avLst/>
          </a:prstGeom>
          <a:solidFill>
            <a:srgbClr val="B3E5FC"/>
          </a:solidFill>
          <a:ln w="19050">
            <a:solidFill>
              <a:srgbClr val="01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245059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15F9B"/>
                </a:solidFill>
              </a:rPr>
              <a:t>Image folder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816352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Which image sub-folder to use.
Default:  images_cropped
Changed automatically by Apply paths.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0" y="2359152"/>
            <a:ext cx="2743200" cy="2286000"/>
          </a:xfrm>
          <a:prstGeom prst="rect">
            <a:avLst/>
          </a:prstGeom>
          <a:solidFill>
            <a:srgbClr val="C8E6C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81160" y="245059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</a:rPr>
              <a:t>Apply paths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81160" y="2816352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One click fills every stage's
input/output paths correctly.
Do this first after naming the project.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8737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695C"/>
                </a:solidFill>
              </a:rPr>
              <a:t>Active model  (header card below the tabs)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23951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Paste or browse to the .ckpt checkpoint file once training is complete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Used by Quick ID (drag-and-drop single-image identification) and the Identify tab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11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Stage 1 — Download from GBIF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0CBC4"/>
                </a:solidFill>
              </a:rPr>
              <a:t>Queries the Global Biodiversity Information Facility API and fetches specimen images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2881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5A64"/>
                </a:solidFill>
              </a:rPr>
              <a:t>Herbarium Classification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61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95C"/>
                </a:solidFill>
              </a:rPr>
              <a:t>Key settings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73352"/>
            <a:ext cx="5120640" cy="749808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28216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95C"/>
                </a:solidFill>
              </a:rPr>
              <a:t>Taxon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1728216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Family, Genus, or Order name
(e.g. Ebenaceae, Diospyros, Ericales)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514600"/>
            <a:ext cx="5120640" cy="749808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569464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95C"/>
                </a:solidFill>
              </a:rPr>
              <a:t>Geographic filter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2569464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Continent, country, or bounding box
Leave blank for worldwide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355848"/>
            <a:ext cx="5120640" cy="749808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410712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95C"/>
                </a:solidFill>
              </a:rPr>
              <a:t>specsin.csv path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3410712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Output metadata file — created fresh or
appended if it already exists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197096"/>
            <a:ext cx="5120640" cy="749808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251960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95C"/>
                </a:solidFill>
              </a:rPr>
              <a:t>Output images dir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42519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Where downloaded images are saved
(auto-filled by Apply paths)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038344"/>
            <a:ext cx="5120640" cy="749808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5093208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95C"/>
                </a:solidFill>
              </a:rPr>
              <a:t>Limit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4560" y="5093208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Max images to download (leave blank
for full dataset — can be millions)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1261872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95C"/>
                </a:solidFill>
              </a:rPr>
              <a:t>What Download produces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35040" y="1673352"/>
            <a:ext cx="2011680" cy="9144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GBIF API
gbif.org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6912864" y="2587752"/>
            <a:ext cx="256032" cy="548640"/>
          </a:xfrm>
          <a:prstGeom prst="downArrow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95744" y="27523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55A64"/>
                </a:solidFill>
              </a:rPr>
              <a:t>HTTP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35040" y="3182112"/>
            <a:ext cx="2011680" cy="91440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specsin.csv
(one row per specimen)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3182112"/>
            <a:ext cx="2560320" cy="914400"/>
          </a:xfrm>
          <a:prstGeom prst="round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images_cropped/
(JPEGs on disk)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4370832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55A64"/>
                </a:solidFill>
              </a:rPr>
              <a:t>specsin.csv columns added at download: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4736592"/>
            <a:ext cx="5943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455A64"/>
                </a:solidFill>
              </a:rPr>
              <a:t>• catalogNumber, species, family, genus, verbatimName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55A64"/>
                </a:solidFill>
              </a:rPr>
              <a:t>• decimalLatitude, decimalLongitude, countryCode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55A64"/>
                </a:solidFill>
              </a:rPr>
              <a:t>• gbifID, image_url, fname, hasfile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11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Stage 2 — Filter &amp; Crop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0CBC4"/>
                </a:solidFill>
              </a:rPr>
              <a:t>Removes non-herbarium images and crops dark scanner borders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2881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5A64"/>
                </a:solidFill>
              </a:rPr>
              <a:t>Herbarium Classification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1615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95C"/>
                </a:solidFill>
              </a:rPr>
              <a:t>What gets removed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627632"/>
            <a:ext cx="1828800" cy="54864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C62828"/>
                </a:solidFill>
              </a:rPr>
              <a:t>🌿 Field photos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17373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Living-plant photographs taken in the field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359152"/>
            <a:ext cx="1828800" cy="54864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C62828"/>
                </a:solidFill>
              </a:rPr>
              <a:t>🔬 Slides / close-ups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2468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Microscope slides and detail scans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090672"/>
            <a:ext cx="1828800" cy="54864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C62828"/>
                </a:solidFill>
              </a:rPr>
              <a:t>📄 Label-only scans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3200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Pages with no specimen material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822192"/>
            <a:ext cx="1828800" cy="54864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C62828"/>
                </a:solidFill>
              </a:rPr>
              <a:t>🖼 Low-quality images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3931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Very dark, blurred, or tiny thumbnails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23367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95C"/>
                </a:solidFill>
              </a:rPr>
              <a:t>Two filter methods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599432"/>
            <a:ext cx="2468880" cy="1828800"/>
          </a:xfrm>
          <a:prstGeom prst="roundRect">
            <a:avLst/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1A2027"/>
                </a:solidFill>
              </a:rPr>
              <a:t>CLIP  (default)
Zero-shot image classification
using a vision-language model
✓ Best accuracy
✗ Requires GPU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17520" y="4599432"/>
            <a:ext cx="2468880" cy="1828800"/>
          </a:xfrm>
          <a:prstGeom prst="round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1A2027"/>
                </a:solidFill>
              </a:rPr>
              <a:t>HSV heuristic
Colour-space analysis
for sheet-white backgrounds
✓ CPU-only, fast
✗ Misses coloured mounts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1216152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95C"/>
                </a:solidFill>
              </a:rPr>
              <a:t>Border cropping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627632"/>
            <a:ext cx="2560320" cy="2560320"/>
          </a:xfrm>
          <a:prstGeom prst="rect">
            <a:avLst/>
          </a:prstGeom>
          <a:solidFill>
            <a:srgbClr val="1A2027"/>
          </a:solidFill>
          <a:ln w="9525">
            <a:solidFill>
              <a:srgbClr val="455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0" y="1993392"/>
            <a:ext cx="182880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4233672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55A64"/>
                </a:solidFill>
              </a:rPr>
              <a:t>Before
(dark scanner border)</a:t>
            </a:r>
          </a:p>
        </p:txBody>
      </p:sp>
      <p:sp>
        <p:nvSpPr>
          <p:cNvPr id="24" name="Can 23"/>
          <p:cNvSpPr/>
          <p:nvPr/>
        </p:nvSpPr>
        <p:spPr>
          <a:xfrm>
            <a:off x="8915400" y="2779776"/>
            <a:ext cx="822960" cy="256032"/>
          </a:xfrm>
          <a:prstGeom prst="can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875520" y="1993392"/>
            <a:ext cx="182880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46920" y="4233672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55A64"/>
                </a:solidFill>
              </a:rPr>
              <a:t>After
(borders removed)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965192"/>
            <a:ext cx="5760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55A64"/>
                </a:solidFill>
              </a:rPr>
              <a:t>Rejected images are moved to  images_cropped/rejected/  (field photos → live/)
not deleted — you can inspect and recover them.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11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Stage 3 — Resize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0CBC4"/>
                </a:solidFill>
              </a:rPr>
              <a:t>Standardises image dimensions so the training data-loader can form uniform batches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2881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5A64"/>
                </a:solidFill>
              </a:rPr>
              <a:t>Herbarium Classification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61872"/>
            <a:ext cx="71323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A2027"/>
                </a:solidFill>
              </a:rPr>
              <a:t>• Scales every image so its longest edge ≤ 1 024 px  (configurable via --max-size)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027"/>
                </a:solidFill>
              </a:rPr>
              <a:t>• Maintains aspect ratio — no distortion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027"/>
                </a:solidFill>
              </a:rPr>
              <a:t>• Uses NVIDIA DALI GPU pipeline when available; falls back to PIL on CPU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027"/>
                </a:solidFill>
              </a:rPr>
              <a:t>• Overwrites images in-place (--in-place) or writes to a separate output folder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027"/>
                </a:solidFill>
              </a:rPr>
              <a:t>• Images already smaller than the target are left unchanged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639312"/>
            <a:ext cx="2286000" cy="2286000"/>
          </a:xfrm>
          <a:prstGeom prst="rect">
            <a:avLst/>
          </a:prstGeom>
          <a:solidFill>
            <a:srgbClr val="E65C00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55955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2027"/>
                </a:solidFill>
              </a:rPr>
              <a:t>Raw scan
~4 000 px</a:t>
            </a:r>
          </a:p>
        </p:txBody>
      </p:sp>
      <p:sp>
        <p:nvSpPr>
          <p:cNvPr id="11" name="Can 10"/>
          <p:cNvSpPr/>
          <p:nvPr/>
        </p:nvSpPr>
        <p:spPr>
          <a:xfrm>
            <a:off x="3291840" y="4654296"/>
            <a:ext cx="457200" cy="256032"/>
          </a:xfrm>
          <a:prstGeom prst="can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0480" y="4325112"/>
            <a:ext cx="914400" cy="914400"/>
          </a:xfrm>
          <a:prstGeom prst="rect">
            <a:avLst/>
          </a:prstGeom>
          <a:solidFill>
            <a:srgbClr val="00897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0" y="5559552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2027"/>
                </a:solidFill>
              </a:rPr>
              <a:t>Resized
1 024 px</a:t>
            </a:r>
          </a:p>
        </p:txBody>
      </p:sp>
      <p:sp>
        <p:nvSpPr>
          <p:cNvPr id="14" name="Can 13"/>
          <p:cNvSpPr/>
          <p:nvPr/>
        </p:nvSpPr>
        <p:spPr>
          <a:xfrm>
            <a:off x="4846320" y="4654296"/>
            <a:ext cx="457200" cy="256032"/>
          </a:xfrm>
          <a:prstGeom prst="can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394960" y="4485132"/>
            <a:ext cx="594360" cy="594360"/>
          </a:xfrm>
          <a:prstGeom prst="rect">
            <a:avLst/>
          </a:prstGeom>
          <a:solidFill>
            <a:srgbClr val="015F9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94960" y="5559552"/>
            <a:ext cx="868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2027"/>
                </a:solidFill>
              </a:rPr>
              <a:t>Model input
640 px  (--image-sz)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1261872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95C"/>
                </a:solidFill>
              </a:rPr>
              <a:t>Why 1 024 px?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1673352"/>
            <a:ext cx="5943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Herbarium scans carry fine detail (venation, surface texture)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ViT-Large with --image-sz 640 still sees far more detail than most photo datasets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GPU VRAM is the bottleneck — 1 024 px source with 640 px training crop is the sweet spot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Batch size 4–8 fits in 20 GB VRAM at 640 px; reduce to 2–4 at 768 px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7607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55A64"/>
                </a:solidFill>
              </a:rPr>
              <a:t>Tip  — you can skip this step entirely if images are already ≤ 1 024 px or if VRAM allows full-res.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11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Stage 4 — Train the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0CBC4"/>
                </a:solidFill>
              </a:rPr>
              <a:t>Multi-stage fine-tuning of a pretrained vision model on your labelled herbarium images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2881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5A64"/>
                </a:solidFill>
              </a:rPr>
              <a:t>Herbarium Classification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216152"/>
            <a:ext cx="3474720" cy="68580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Stage 1
Warm-up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947672"/>
            <a:ext cx="3474720" cy="100584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993392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Backbone frozen
Head only  ·  4 epochs
LR ~ 0.005</a:t>
            </a:r>
          </a:p>
        </p:txBody>
      </p:sp>
      <p:sp>
        <p:nvSpPr>
          <p:cNvPr id="11" name="Can 10"/>
          <p:cNvSpPr/>
          <p:nvPr/>
        </p:nvSpPr>
        <p:spPr>
          <a:xfrm>
            <a:off x="3840480" y="1426464"/>
            <a:ext cx="365760" cy="256032"/>
          </a:xfrm>
          <a:prstGeom prst="can">
            <a:avLst/>
          </a:prstGeom>
          <a:solidFill>
            <a:srgbClr val="80C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06240" y="1216152"/>
            <a:ext cx="3474720" cy="685800"/>
          </a:xfrm>
          <a:prstGeom prst="round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Stage 2
Fine-tune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1947672"/>
            <a:ext cx="3474720" cy="100584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1993392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All layers train
15–50 epochs
LR ~ 0.0001</a:t>
            </a:r>
          </a:p>
        </p:txBody>
      </p:sp>
      <p:sp>
        <p:nvSpPr>
          <p:cNvPr id="15" name="Can 14"/>
          <p:cNvSpPr/>
          <p:nvPr/>
        </p:nvSpPr>
        <p:spPr>
          <a:xfrm>
            <a:off x="7680960" y="1426464"/>
            <a:ext cx="365760" cy="256032"/>
          </a:xfrm>
          <a:prstGeom prst="can">
            <a:avLst/>
          </a:prstGeom>
          <a:solidFill>
            <a:srgbClr val="80C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46720" y="1216152"/>
            <a:ext cx="3474720" cy="685800"/>
          </a:xfrm>
          <a:prstGeom prst="roundRect">
            <a:avLst/>
          </a:prstGeom>
          <a:solidFill>
            <a:srgbClr val="015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Cool-down
(optional)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1947672"/>
            <a:ext cx="3474720" cy="100584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1993392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Reduced batch + LR
Final polishing
Saves best-cd.ckpt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18211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95C"/>
                </a:solidFill>
              </a:rPr>
              <a:t>Key hyperparameters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593592"/>
            <a:ext cx="2743200" cy="1920240"/>
          </a:xfrm>
          <a:prstGeom prst="rect">
            <a:avLst/>
          </a:prstGeom>
          <a:solidFill>
            <a:srgbClr val="E0F2F1"/>
          </a:solidFill>
          <a:ln w="9525">
            <a:solidFill>
              <a:srgbClr val="80C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95C"/>
                </a:solidFill>
              </a:rPr>
              <a:t>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096512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vit_large_patch16_dinov3
(default)
or efficientnet_b4 for speed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91840" y="3593592"/>
            <a:ext cx="2743200" cy="1920240"/>
          </a:xfrm>
          <a:prstGeom prst="rect">
            <a:avLst/>
          </a:prstGeom>
          <a:solidFill>
            <a:srgbClr val="E0F2F1"/>
          </a:solidFill>
          <a:ln w="9525">
            <a:solidFill>
              <a:srgbClr val="80C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83280" y="365760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95C"/>
                </a:solidFill>
              </a:rPr>
              <a:t>Image size
--image-sz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4096512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640 px  (default)
768 for highest accuracy
512 for low VRAM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3593592"/>
            <a:ext cx="2743200" cy="1920240"/>
          </a:xfrm>
          <a:prstGeom prst="rect">
            <a:avLst/>
          </a:prstGeom>
          <a:solidFill>
            <a:srgbClr val="E0F2F1"/>
          </a:solidFill>
          <a:ln w="9525">
            <a:solidFill>
              <a:srgbClr val="80C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0" y="365760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95C"/>
                </a:solidFill>
              </a:rPr>
              <a:t>Batch size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4096512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4–8 on RTX 4090
Increase --grad-accum
to compensate if reduced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0" y="3593592"/>
            <a:ext cx="2743200" cy="1920240"/>
          </a:xfrm>
          <a:prstGeom prst="rect">
            <a:avLst/>
          </a:prstGeom>
          <a:solidFill>
            <a:srgbClr val="E0F2F1"/>
          </a:solidFill>
          <a:ln w="9525">
            <a:solidFill>
              <a:srgbClr val="80C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35440" y="365760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95C"/>
                </a:solidFill>
              </a:rPr>
              <a:t>Stage 2 epochs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4096512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15 (quick test)
30 for production
50 for large datasets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59436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55A64"/>
                </a:solidFill>
              </a:rPr>
              <a:t>Outputs:  runs/checkpoints/last.ckpt  ·  runs/checkpoints/epoch=XX-valid_loss=X.ckpt  ·  runs/nameslist.json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11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Stage 5 — Identify &amp;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0CBC4"/>
                </a:solidFill>
              </a:rPr>
              <a:t>Run inference on your images, inspect results, and correct any mislabelled specimens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2881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5A64"/>
                </a:solidFill>
              </a:rPr>
              <a:t>Herbarium Classification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1615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95C"/>
                </a:solidFill>
              </a:rPr>
              <a:t>Identify tab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609344"/>
            <a:ext cx="5486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Point to your checkpoint (.ckpt) and specsin.csv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Outputs  review/predictions.csv  with top-5 predictions + confidence per image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Flags images where the top prediction differs from the recorded label  (mismatch column)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Sorts unidentified specimens (indet) by prediction confidence into  review/indets/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216152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95C"/>
                </a:solidFill>
              </a:rPr>
              <a:t>Review tab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609344"/>
            <a:ext cx="5669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Browse images with their predictions side-by-side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Click a prediction to confirm or correct the label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Changes saved back to  predictions.csv  in real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3090672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95C"/>
                </a:solidFill>
              </a:rPr>
              <a:t>Analysis tab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483864"/>
            <a:ext cx="5669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Load  predictions.csv  to plot confusion matrix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Per-species accuracy, top confusions, recall vs. support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82219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95C"/>
                </a:solidFill>
              </a:rPr>
              <a:t>predictions.csv columns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233672"/>
            <a:ext cx="1298448" cy="365760"/>
          </a:xfrm>
          <a:prstGeom prst="roundRect">
            <a:avLst/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00695C"/>
                </a:solidFill>
              </a:rPr>
              <a:t>path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55648" y="4233672"/>
            <a:ext cx="1298448" cy="365760"/>
          </a:xfrm>
          <a:prstGeom prst="roundRect">
            <a:avLst/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00695C"/>
                </a:solidFill>
              </a:rPr>
              <a:t>true_label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45536" y="4233672"/>
            <a:ext cx="1298448" cy="365760"/>
          </a:xfrm>
          <a:prstGeom prst="roundRect">
            <a:avLst/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00695C"/>
                </a:solidFill>
              </a:rPr>
              <a:t>top_pred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35424" y="4233672"/>
            <a:ext cx="1298448" cy="365760"/>
          </a:xfrm>
          <a:prstGeom prst="round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455A64"/>
                </a:solidFill>
              </a:rPr>
              <a:t>top_conf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4690872"/>
            <a:ext cx="1298448" cy="365760"/>
          </a:xfrm>
          <a:prstGeom prst="round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455A64"/>
                </a:solidFill>
              </a:rPr>
              <a:t>pred_2 … pred_5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755648" y="4690872"/>
            <a:ext cx="1298448" cy="365760"/>
          </a:xfrm>
          <a:prstGeom prst="round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455A64"/>
                </a:solidFill>
              </a:rPr>
              <a:t>conf_2 … conf_5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45536" y="4690872"/>
            <a:ext cx="1298448" cy="365760"/>
          </a:xfrm>
          <a:prstGeom prst="round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455A64"/>
                </a:solidFill>
              </a:rPr>
              <a:t>flagged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35424" y="4690872"/>
            <a:ext cx="1298448" cy="365760"/>
          </a:xfrm>
          <a:prstGeom prst="round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455A64"/>
                </a:solidFill>
              </a:rPr>
              <a:t>mismatch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11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Run All — Full Pipeline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0CBC4"/>
                </a:solidFill>
              </a:rPr>
              <a:t>Executes all five stages in sequence; can be paused, cancelled, and resumed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2881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5A64"/>
                </a:solidFill>
              </a:rPr>
              <a:t>Herbarium Classification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353312"/>
            <a:ext cx="2148840" cy="640080"/>
          </a:xfrm>
          <a:prstGeom prst="round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Download</a:t>
            </a:r>
          </a:p>
        </p:txBody>
      </p:sp>
      <p:sp>
        <p:nvSpPr>
          <p:cNvPr id="9" name="Can 8"/>
          <p:cNvSpPr/>
          <p:nvPr/>
        </p:nvSpPr>
        <p:spPr>
          <a:xfrm>
            <a:off x="2514600" y="1545336"/>
            <a:ext cx="182880" cy="256032"/>
          </a:xfrm>
          <a:prstGeom prst="can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697479" y="1353312"/>
            <a:ext cx="2148840" cy="640080"/>
          </a:xfrm>
          <a:prstGeom prst="roundRect">
            <a:avLst/>
          </a:prstGeom>
          <a:solidFill>
            <a:srgbClr val="006E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Filter &amp; Crop</a:t>
            </a:r>
          </a:p>
        </p:txBody>
      </p:sp>
      <p:sp>
        <p:nvSpPr>
          <p:cNvPr id="11" name="Can 10"/>
          <p:cNvSpPr/>
          <p:nvPr/>
        </p:nvSpPr>
        <p:spPr>
          <a:xfrm>
            <a:off x="4846319" y="1545336"/>
            <a:ext cx="182880" cy="256032"/>
          </a:xfrm>
          <a:prstGeom prst="can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29200" y="1353312"/>
            <a:ext cx="2148840" cy="640080"/>
          </a:xfrm>
          <a:prstGeom prst="roundRect">
            <a:avLst/>
          </a:prstGeom>
          <a:solidFill>
            <a:srgbClr val="015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Resize</a:t>
            </a:r>
          </a:p>
        </p:txBody>
      </p:sp>
      <p:sp>
        <p:nvSpPr>
          <p:cNvPr id="13" name="Can 12"/>
          <p:cNvSpPr/>
          <p:nvPr/>
        </p:nvSpPr>
        <p:spPr>
          <a:xfrm>
            <a:off x="7178040" y="1545336"/>
            <a:ext cx="182880" cy="256032"/>
          </a:xfrm>
          <a:prstGeom prst="can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60919" y="1353312"/>
            <a:ext cx="2148840" cy="640080"/>
          </a:xfrm>
          <a:prstGeom prst="roundRect">
            <a:avLst/>
          </a:prstGeom>
          <a:solidFill>
            <a:srgbClr val="4A1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Train</a:t>
            </a:r>
          </a:p>
        </p:txBody>
      </p:sp>
      <p:sp>
        <p:nvSpPr>
          <p:cNvPr id="15" name="Can 14"/>
          <p:cNvSpPr/>
          <p:nvPr/>
        </p:nvSpPr>
        <p:spPr>
          <a:xfrm>
            <a:off x="9509759" y="1545336"/>
            <a:ext cx="182880" cy="256032"/>
          </a:xfrm>
          <a:prstGeom prst="can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692640" y="1353312"/>
            <a:ext cx="2148840" cy="64008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Identify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221992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Each stage checks whether its output already exists — skips completed stages automatically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If a stage fails, fix the issue and restart Run All; completed stages are not repeated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The Stop button cancels the current stage cleanly (no partial-write corruption)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In Cloud mode the orchestrator runs all stages on the pod; progress streams to the Output panel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187952"/>
            <a:ext cx="5486400" cy="2194560"/>
          </a:xfrm>
          <a:prstGeom prst="rect">
            <a:avLst/>
          </a:prstGeom>
          <a:solidFill>
            <a:srgbClr val="E0F2F1"/>
          </a:solidFill>
          <a:ln w="9525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2611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695C"/>
                </a:solidFill>
              </a:rPr>
              <a:t>Local mode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626864"/>
            <a:ext cx="52120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00695C"/>
                </a:solidFill>
              </a:rPr>
              <a:t>• Scripts run on your own machine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00695C"/>
                </a:solidFill>
              </a:rPr>
              <a:t>• Needs CUDA GPU for training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00695C"/>
                </a:solidFill>
              </a:rPr>
              <a:t>• No account setup beyond GBIF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00695C"/>
                </a:solidFill>
              </a:rPr>
              <a:t>• Output stays in your project folder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4187952"/>
            <a:ext cx="5486400" cy="2194560"/>
          </a:xfrm>
          <a:prstGeom prst="rect">
            <a:avLst/>
          </a:prstGeom>
          <a:solidFill>
            <a:srgbClr val="B3E5FC"/>
          </a:solidFill>
          <a:ln w="9525">
            <a:solidFill>
              <a:srgbClr val="01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42611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15F9B"/>
                </a:solidFill>
              </a:rPr>
              <a:t>Cloud mode  (☁)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626864"/>
            <a:ext cx="52120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015F9B"/>
                </a:solidFill>
              </a:rPr>
              <a:t>• Orchestrator provisions a RunPod pod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015F9B"/>
                </a:solidFill>
              </a:rPr>
              <a:t>• Streams output to the web UI log panel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015F9B"/>
                </a:solidFill>
              </a:rPr>
              <a:t>• Archives results to Cloudflare R2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015F9B"/>
                </a:solidFill>
              </a:rPr>
              <a:t>• Pod can be terminated when done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4389120"/>
            <a:ext cx="3657600" cy="3657600"/>
          </a:xfrm>
          <a:prstGeom prst="ellipse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-914400"/>
            <a:ext cx="2743200" cy="2743200"/>
          </a:xfrm>
          <a:prstGeom prst="ellipse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66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Cloud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56616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80CBC4"/>
                </a:solidFill>
              </a:rPr>
              <a:t>GPU training on RunPod · Storage on Cloudflare R2 · Orchestrated from your browser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11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Cloud vs Local — Choosing a Mode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2881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5A64"/>
                </a:solidFill>
              </a:rPr>
              <a:t>Herbarium Classification Pipeline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16152"/>
            <a:ext cx="2194560" cy="566928"/>
          </a:xfrm>
          <a:prstGeom prst="rect">
            <a:avLst/>
          </a:prstGeom>
          <a:solidFill>
            <a:srgbClr val="00695C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1289304"/>
            <a:ext cx="20848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2606040" y="1216152"/>
            <a:ext cx="4572000" cy="566928"/>
          </a:xfrm>
          <a:prstGeom prst="rect">
            <a:avLst/>
          </a:prstGeom>
          <a:solidFill>
            <a:srgbClr val="00695C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79192" y="1289304"/>
            <a:ext cx="4462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Cloud mode  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23760" y="1216152"/>
            <a:ext cx="4572000" cy="566928"/>
          </a:xfrm>
          <a:prstGeom prst="rect">
            <a:avLst/>
          </a:prstGeom>
          <a:solidFill>
            <a:srgbClr val="00695C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96912" y="1289304"/>
            <a:ext cx="4462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Local mode  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801368"/>
            <a:ext cx="2194560" cy="566928"/>
          </a:xfrm>
          <a:prstGeom prst="rect">
            <a:avLst/>
          </a:prstGeom>
          <a:solidFill>
            <a:srgbClr val="E0F2F1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" y="1874520"/>
            <a:ext cx="20848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027"/>
                </a:solidFill>
              </a:rPr>
              <a:t>GPU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06040" y="1801368"/>
            <a:ext cx="4572000" cy="566928"/>
          </a:xfrm>
          <a:prstGeom prst="rect">
            <a:avLst/>
          </a:prstGeom>
          <a:solidFill>
            <a:srgbClr val="E0F2F1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79192" y="1874520"/>
            <a:ext cx="4462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RunPod RTX 4090 (provisioned on demand)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23760" y="1801368"/>
            <a:ext cx="4572000" cy="566928"/>
          </a:xfrm>
          <a:prstGeom prst="rect">
            <a:avLst/>
          </a:prstGeom>
          <a:solidFill>
            <a:srgbClr val="E0F2F1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96912" y="1874520"/>
            <a:ext cx="4462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Your own NVIDIA GPU (≥ 20 GB VRAM recommended)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386584"/>
            <a:ext cx="21945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" y="2459736"/>
            <a:ext cx="20848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027"/>
                </a:solidFill>
              </a:rPr>
              <a:t>Cost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06040" y="2386584"/>
            <a:ext cx="45720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79192" y="2459736"/>
            <a:ext cx="4462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~$2–4 per training run  (pod time + R2 storage)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0" y="2386584"/>
            <a:ext cx="45720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96912" y="2459736"/>
            <a:ext cx="4462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Electricity only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71800"/>
            <a:ext cx="2194560" cy="566928"/>
          </a:xfrm>
          <a:prstGeom prst="rect">
            <a:avLst/>
          </a:prstGeom>
          <a:solidFill>
            <a:srgbClr val="E0F2F1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3044952"/>
            <a:ext cx="20848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027"/>
                </a:solidFill>
              </a:rPr>
              <a:t>Setup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06040" y="2971800"/>
            <a:ext cx="4572000" cy="566928"/>
          </a:xfrm>
          <a:prstGeom prst="rect">
            <a:avLst/>
          </a:prstGeom>
          <a:solidFill>
            <a:srgbClr val="E0F2F1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79192" y="3044952"/>
            <a:ext cx="4462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RunPod + R2 accounts, SSH key, API keys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23760" y="2971800"/>
            <a:ext cx="4572000" cy="566928"/>
          </a:xfrm>
          <a:prstGeom prst="rect">
            <a:avLst/>
          </a:prstGeom>
          <a:solidFill>
            <a:srgbClr val="E0F2F1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96912" y="3044952"/>
            <a:ext cx="4462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conda env + CUDA drivers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557016"/>
            <a:ext cx="21945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" y="3630168"/>
            <a:ext cx="20848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027"/>
                </a:solidFill>
              </a:rPr>
              <a:t>Data storage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606040" y="3557016"/>
            <a:ext cx="45720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79192" y="3630168"/>
            <a:ext cx="4462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Network volume on pod + Cloudflare R2 archive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223760" y="3557016"/>
            <a:ext cx="45720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96912" y="3630168"/>
            <a:ext cx="4462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Local disk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142232"/>
            <a:ext cx="2194560" cy="566928"/>
          </a:xfrm>
          <a:prstGeom prst="rect">
            <a:avLst/>
          </a:prstGeom>
          <a:solidFill>
            <a:srgbClr val="E0F2F1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8912" y="4215384"/>
            <a:ext cx="20848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027"/>
                </a:solidFill>
              </a:rPr>
              <a:t>Monitoring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606040" y="4142232"/>
            <a:ext cx="4572000" cy="566928"/>
          </a:xfrm>
          <a:prstGeom prst="rect">
            <a:avLst/>
          </a:prstGeom>
          <a:solidFill>
            <a:srgbClr val="E0F2F1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679192" y="4215384"/>
            <a:ext cx="4462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Live log stream in browser from any device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23760" y="4142232"/>
            <a:ext cx="4572000" cy="566928"/>
          </a:xfrm>
          <a:prstGeom prst="rect">
            <a:avLst/>
          </a:prstGeom>
          <a:solidFill>
            <a:srgbClr val="E0F2F1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296912" y="4215384"/>
            <a:ext cx="4462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Terminal / Output panel on same machine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4727447"/>
            <a:ext cx="21945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4800599"/>
            <a:ext cx="20848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027"/>
                </a:solidFill>
              </a:rPr>
              <a:t>Resuming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606040" y="4727447"/>
            <a:ext cx="45720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679192" y="4800599"/>
            <a:ext cx="4462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Archive to R2 → restore later with restore_local.py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23760" y="4727447"/>
            <a:ext cx="45720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296912" y="4800599"/>
            <a:ext cx="4462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Checkpoint on disk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312664"/>
            <a:ext cx="2194560" cy="566928"/>
          </a:xfrm>
          <a:prstGeom prst="rect">
            <a:avLst/>
          </a:prstGeom>
          <a:solidFill>
            <a:srgbClr val="E0F2F1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8912" y="5385816"/>
            <a:ext cx="20848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027"/>
                </a:solidFill>
              </a:rPr>
              <a:t>Best for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606040" y="5312664"/>
            <a:ext cx="4572000" cy="566928"/>
          </a:xfrm>
          <a:prstGeom prst="rect">
            <a:avLst/>
          </a:prstGeom>
          <a:solidFill>
            <a:srgbClr val="E0F2F1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679192" y="5385816"/>
            <a:ext cx="4462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Long runs, no local GPU, remote collaboration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223760" y="5312664"/>
            <a:ext cx="4572000" cy="566928"/>
          </a:xfrm>
          <a:prstGeom prst="rect">
            <a:avLst/>
          </a:prstGeom>
          <a:solidFill>
            <a:srgbClr val="E0F2F1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296912" y="5385816"/>
            <a:ext cx="4462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Quick iteration, offline, sensitive data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11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Cloud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0CBC4"/>
                </a:solidFill>
              </a:rPr>
              <a:t>Three main components communicate over the internet; your browser is the control plane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2881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5A64"/>
                </a:solidFill>
              </a:rPr>
              <a:t>Herbarium Classification Pipeline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444752"/>
            <a:ext cx="3017520" cy="2926080"/>
          </a:xfrm>
          <a:prstGeom prst="rect">
            <a:avLst/>
          </a:prstGeom>
          <a:solidFill>
            <a:srgbClr val="E0F2F1"/>
          </a:solidFill>
          <a:ln w="25400">
            <a:solidFill>
              <a:srgbClr val="0069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517904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95C"/>
                </a:solidFill>
              </a:rPr>
              <a:t>Your PC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947672"/>
            <a:ext cx="2651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Web UI (browser)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Orchestrator process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rclone (restore)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SSH key</a:t>
            </a:r>
          </a:p>
        </p:txBody>
      </p:sp>
      <p:sp>
        <p:nvSpPr>
          <p:cNvPr id="11" name="Can 10"/>
          <p:cNvSpPr/>
          <p:nvPr/>
        </p:nvSpPr>
        <p:spPr>
          <a:xfrm>
            <a:off x="3246120" y="2414016"/>
            <a:ext cx="1280160" cy="256032"/>
          </a:xfrm>
          <a:prstGeom prst="can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224942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55A64"/>
                </a:solidFill>
              </a:rPr>
              <a:t>SSH / SFTP</a:t>
            </a:r>
          </a:p>
        </p:txBody>
      </p:sp>
      <p:sp>
        <p:nvSpPr>
          <p:cNvPr id="13" name="Can 12"/>
          <p:cNvSpPr/>
          <p:nvPr/>
        </p:nvSpPr>
        <p:spPr>
          <a:xfrm>
            <a:off x="3246120" y="2825496"/>
            <a:ext cx="1280160" cy="256032"/>
          </a:xfrm>
          <a:prstGeom prst="can">
            <a:avLst/>
          </a:prstGeom>
          <a:solidFill>
            <a:srgbClr val="80C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6120" y="266090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55A64"/>
                </a:solidFill>
              </a:rPr>
              <a:t>log stream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3440" y="1444752"/>
            <a:ext cx="3566160" cy="2926080"/>
          </a:xfrm>
          <a:prstGeom prst="rect">
            <a:avLst/>
          </a:prstGeom>
          <a:solidFill>
            <a:srgbClr val="B3E5FC"/>
          </a:solidFill>
          <a:ln w="25400">
            <a:solidFill>
              <a:srgbClr val="01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1517904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15F9B"/>
                </a:solidFill>
              </a:rPr>
              <a:t>RunPod GPU Pod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600" y="1947672"/>
            <a:ext cx="3200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RTX 4090 / A100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Download  ·  Filter  ·  Resize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Train  ·  Identify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rclone (archive to R2)</a:t>
            </a:r>
          </a:p>
        </p:txBody>
      </p:sp>
      <p:sp>
        <p:nvSpPr>
          <p:cNvPr id="18" name="Can 17"/>
          <p:cNvSpPr/>
          <p:nvPr/>
        </p:nvSpPr>
        <p:spPr>
          <a:xfrm>
            <a:off x="8321040" y="2414016"/>
            <a:ext cx="1188720" cy="256032"/>
          </a:xfrm>
          <a:prstGeom prst="can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2249424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55A64"/>
                </a:solidFill>
              </a:rPr>
              <a:t>rclone copy</a:t>
            </a:r>
          </a:p>
        </p:txBody>
      </p:sp>
      <p:sp>
        <p:nvSpPr>
          <p:cNvPr id="20" name="Can 19"/>
          <p:cNvSpPr/>
          <p:nvPr/>
        </p:nvSpPr>
        <p:spPr>
          <a:xfrm>
            <a:off x="8321040" y="2825496"/>
            <a:ext cx="1188720" cy="256032"/>
          </a:xfrm>
          <a:prstGeom prst="can">
            <a:avLst/>
          </a:prstGeom>
          <a:solidFill>
            <a:srgbClr val="FFC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2660904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55A64"/>
                </a:solidFill>
              </a:rPr>
              <a:t>rclone restore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01200" y="1444752"/>
            <a:ext cx="2377440" cy="2926080"/>
          </a:xfrm>
          <a:prstGeom prst="rect">
            <a:avLst/>
          </a:prstGeom>
          <a:solidFill>
            <a:srgbClr val="FFE0B2"/>
          </a:solidFill>
          <a:ln w="2540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0" y="1517904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65C00"/>
                </a:solidFill>
              </a:rPr>
              <a:t>Cloudflare R2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38360" y="1947672"/>
            <a:ext cx="2103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checkpoints/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images.tar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specsin.csv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nameslist.json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6318504" y="4370832"/>
            <a:ext cx="256032" cy="457200"/>
          </a:xfrm>
          <a:prstGeom prst="downArrow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01384" y="450799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55A64"/>
                </a:solidFill>
              </a:rPr>
              <a:t>HTTP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63440" y="4873752"/>
            <a:ext cx="3566160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E7D32"/>
                </a:solidFill>
              </a:rPr>
              <a:t>GBIF API
(specimen records + image URLs)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5943600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55A64"/>
                </a:solidFill>
              </a:rPr>
              <a:t>Note: the orchestrator runs on Your PC and issues commands to the pod over SSH.  The web UI is also served locally — your browser connects to localhost:8765.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11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Data Flow — Download &amp; Prepare Phases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0CBC4"/>
                </a:solidFill>
              </a:rPr>
              <a:t>GBIF → Pod disk  →  R2 archive  (stages 1 – 3)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2881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5A64"/>
                </a:solidFill>
              </a:rPr>
              <a:t>Herbarium Classification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" y="1216152"/>
            <a:ext cx="2194560" cy="548640"/>
          </a:xfrm>
          <a:prstGeom prst="round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1  Provision</a:t>
            </a:r>
          </a:p>
        </p:txBody>
      </p:sp>
      <p:sp>
        <p:nvSpPr>
          <p:cNvPr id="9" name="Can 8"/>
          <p:cNvSpPr/>
          <p:nvPr/>
        </p:nvSpPr>
        <p:spPr>
          <a:xfrm>
            <a:off x="2423160" y="1362456"/>
            <a:ext cx="182880" cy="256032"/>
          </a:xfrm>
          <a:prstGeom prst="can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" y="1828800"/>
            <a:ext cx="2194560" cy="164592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883664"/>
            <a:ext cx="20116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Orchestrator calls RunPod API.
Pod boots, SSH comes up (~2 min).
rclone config pushed to pod.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06040" y="1216152"/>
            <a:ext cx="2194560" cy="54864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2  Download</a:t>
            </a:r>
          </a:p>
        </p:txBody>
      </p:sp>
      <p:sp>
        <p:nvSpPr>
          <p:cNvPr id="13" name="Can 12"/>
          <p:cNvSpPr/>
          <p:nvPr/>
        </p:nvSpPr>
        <p:spPr>
          <a:xfrm>
            <a:off x="4800600" y="1362456"/>
            <a:ext cx="182880" cy="256032"/>
          </a:xfrm>
          <a:prstGeom prst="can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6040" y="1828800"/>
            <a:ext cx="2194560" cy="164592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97480" y="1883664"/>
            <a:ext cx="20116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Pod queries GBIF API.
Images fetched in parallel threads.
specsin.csv built incrementally.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1216152"/>
            <a:ext cx="2194560" cy="548640"/>
          </a:xfrm>
          <a:prstGeom prst="roundRect">
            <a:avLst/>
          </a:prstGeom>
          <a:solidFill>
            <a:srgbClr val="015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3  Filter &amp; Crop</a:t>
            </a:r>
          </a:p>
        </p:txBody>
      </p:sp>
      <p:sp>
        <p:nvSpPr>
          <p:cNvPr id="17" name="Can 16"/>
          <p:cNvSpPr/>
          <p:nvPr/>
        </p:nvSpPr>
        <p:spPr>
          <a:xfrm>
            <a:off x="7178040" y="1362456"/>
            <a:ext cx="182880" cy="256032"/>
          </a:xfrm>
          <a:prstGeom prst="can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83480" y="1828800"/>
            <a:ext cx="2194560" cy="164592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74920" y="1883664"/>
            <a:ext cx="20116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CLIP runs on pod GPU.
Non-herbarium images moved to rejected/.
Borders cropped.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60920" y="1216152"/>
            <a:ext cx="2194560" cy="548640"/>
          </a:xfrm>
          <a:prstGeom prst="roundRect">
            <a:avLst/>
          </a:prstGeom>
          <a:solidFill>
            <a:srgbClr val="4A1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4  Resize</a:t>
            </a:r>
          </a:p>
        </p:txBody>
      </p:sp>
      <p:sp>
        <p:nvSpPr>
          <p:cNvPr id="21" name="Can 20"/>
          <p:cNvSpPr/>
          <p:nvPr/>
        </p:nvSpPr>
        <p:spPr>
          <a:xfrm>
            <a:off x="9555480" y="1362456"/>
            <a:ext cx="182880" cy="256032"/>
          </a:xfrm>
          <a:prstGeom prst="can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60920" y="1828800"/>
            <a:ext cx="2194560" cy="164592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52360" y="1883664"/>
            <a:ext cx="20116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DALI GPU pipeline scales images.
Images overwritten in-place.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738360" y="1216152"/>
            <a:ext cx="2194560" cy="548640"/>
          </a:xfrm>
          <a:prstGeom prst="round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5  Archive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38360" y="1828800"/>
            <a:ext cx="2194560" cy="164592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9800" y="1883664"/>
            <a:ext cx="20116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rclone copies images.tar + specsin.csv
to R2.  Pod can now be
terminated safely.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3776472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695C"/>
                </a:solidFill>
              </a:rPr>
              <a:t>Where data lives after each phase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187952"/>
            <a:ext cx="3566160" cy="1920240"/>
          </a:xfrm>
          <a:prstGeom prst="rect">
            <a:avLst/>
          </a:prstGeom>
          <a:solidFill>
            <a:srgbClr val="B3E5FC"/>
          </a:solidFill>
          <a:ln w="19050">
            <a:solidFill>
              <a:srgbClr val="01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4261104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15F9B"/>
                </a:solidFill>
              </a:rPr>
              <a:t>Pod network
volume
/workspace/data/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" y="502920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2027"/>
                </a:solidFill>
              </a:rPr>
              <a:t>images_cropped/
specsin.csv
(temporary)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6240" y="4187952"/>
            <a:ext cx="3566160" cy="1920240"/>
          </a:xfrm>
          <a:prstGeom prst="rect">
            <a:avLst/>
          </a:prstGeom>
          <a:solidFill>
            <a:srgbClr val="F0F2F4"/>
          </a:solidFill>
          <a:ln w="19050">
            <a:solidFill>
              <a:srgbClr val="4A14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15968" y="4261104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A148C"/>
                </a:solidFill>
              </a:rPr>
              <a:t>Pod ephemeral
/workspace/data/
(deleted on terminate)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15968" y="502920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2027"/>
                </a:solidFill>
              </a:rPr>
              <a:t>images_1024/
resized images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46720" y="4187952"/>
            <a:ext cx="3566160" cy="1920240"/>
          </a:xfrm>
          <a:prstGeom prst="rect">
            <a:avLst/>
          </a:prstGeom>
          <a:solidFill>
            <a:srgbClr val="FFE0B2"/>
          </a:solidFill>
          <a:ln w="1905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56448" y="4261104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5C00"/>
                </a:solidFill>
              </a:rPr>
              <a:t>Cloudflare R2
herbarium-backup/
&lt;project&gt;/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56448" y="502920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2027"/>
                </a:solidFill>
              </a:rPr>
              <a:t>images.tar
specsin.csv
(permanent)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11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Data Flow — Training &amp; Archive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0CBC4"/>
                </a:solidFill>
              </a:rPr>
              <a:t>Stage 4: pod GPU reads images, writes checkpoints; R2 stores the final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2881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5A64"/>
                </a:solidFill>
              </a:rPr>
              <a:t>Herbarium Classification Pipeline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1353312"/>
            <a:ext cx="4572000" cy="2743200"/>
          </a:xfrm>
          <a:prstGeom prst="rect">
            <a:avLst/>
          </a:prstGeom>
          <a:solidFill>
            <a:srgbClr val="B3E5FC"/>
          </a:solidFill>
          <a:ln w="25400">
            <a:solidFill>
              <a:srgbClr val="01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08760" y="1444752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15F9B"/>
                </a:solidFill>
              </a:rPr>
              <a:t>RunPod GPU Pod  —  Training Loop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08760" y="1901952"/>
            <a:ext cx="1645920" cy="914400"/>
          </a:xfrm>
          <a:prstGeom prst="roundRect">
            <a:avLst/>
          </a:prstGeom>
          <a:solidFill>
            <a:srgbClr val="015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DataLoader
reads batches
from disk</a:t>
            </a:r>
          </a:p>
        </p:txBody>
      </p:sp>
      <p:sp>
        <p:nvSpPr>
          <p:cNvPr id="11" name="Can 10"/>
          <p:cNvSpPr/>
          <p:nvPr/>
        </p:nvSpPr>
        <p:spPr>
          <a:xfrm>
            <a:off x="3246119" y="2231136"/>
            <a:ext cx="548640" cy="256032"/>
          </a:xfrm>
          <a:prstGeom prst="can">
            <a:avLst/>
          </a:prstGeom>
          <a:solidFill>
            <a:srgbClr val="015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840480" y="1901952"/>
            <a:ext cx="1828800" cy="914400"/>
          </a:xfrm>
          <a:prstGeom prst="roundRect">
            <a:avLst/>
          </a:prstGeom>
          <a:solidFill>
            <a:srgbClr val="4A1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ViT-Large
forward + backward
GPU compute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4626864" y="2816352"/>
            <a:ext cx="256032" cy="731520"/>
          </a:xfrm>
          <a:prstGeom prst="downArrow">
            <a:avLst/>
          </a:prstGeom>
          <a:solidFill>
            <a:srgbClr val="4A1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840480" y="3593592"/>
            <a:ext cx="1828800" cy="457200"/>
          </a:xfrm>
          <a:prstGeom prst="round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Checkpoint
.ckpt saved
per epoch</a:t>
            </a:r>
          </a:p>
        </p:txBody>
      </p:sp>
      <p:sp>
        <p:nvSpPr>
          <p:cNvPr id="15" name="Can 14"/>
          <p:cNvSpPr/>
          <p:nvPr/>
        </p:nvSpPr>
        <p:spPr>
          <a:xfrm>
            <a:off x="6035040" y="2596896"/>
            <a:ext cx="1188720" cy="256032"/>
          </a:xfrm>
          <a:prstGeom prst="can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0" y="2432304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55A64"/>
                </a:solidFill>
              </a:rPr>
              <a:t>rclone
(best ckpt)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1353312"/>
            <a:ext cx="2286000" cy="2743200"/>
          </a:xfrm>
          <a:prstGeom prst="rect">
            <a:avLst/>
          </a:prstGeom>
          <a:solidFill>
            <a:srgbClr val="FFE0B2"/>
          </a:solidFill>
          <a:ln w="2540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79" y="1444752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5C00"/>
                </a:solidFill>
              </a:rPr>
              <a:t>R2
herbarium-backup/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1993392"/>
            <a:ext cx="2011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1A2027"/>
                </a:solidFill>
              </a:rPr>
              <a:t>• last.ckpt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2027"/>
                </a:solidFill>
              </a:rPr>
              <a:t>• best epoch ckpt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2027"/>
                </a:solidFill>
              </a:rPr>
              <a:t>• nameslist.json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2027"/>
                </a:solidFill>
              </a:rPr>
              <a:t>• specsin.csv</a:t>
            </a:r>
          </a:p>
        </p:txBody>
      </p:sp>
      <p:sp>
        <p:nvSpPr>
          <p:cNvPr id="20" name="Can 19"/>
          <p:cNvSpPr/>
          <p:nvPr/>
        </p:nvSpPr>
        <p:spPr>
          <a:xfrm>
            <a:off x="9784080" y="2596896"/>
            <a:ext cx="1371600" cy="256032"/>
          </a:xfrm>
          <a:prstGeom prst="can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0" y="24323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55A64"/>
                </a:solidFill>
              </a:rPr>
              <a:t>restore_local.py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247120" y="2176272"/>
            <a:ext cx="731520" cy="109728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Your PC
(for Review)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4325112"/>
            <a:ext cx="4572000" cy="1005840"/>
          </a:xfrm>
          <a:prstGeom prst="rect">
            <a:avLst/>
          </a:prstGeom>
          <a:solidFill>
            <a:srgbClr val="F0F2F4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508760" y="4389120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8F00"/>
                </a:solidFill>
              </a:rPr>
              <a:t>Optional: WandB live logging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4718304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Metrics stream from pod → WandB cloud → your browser
Set WandB API key in the Setup tab to enable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5513832"/>
            <a:ext cx="11430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455A64"/>
                </a:solidFill>
              </a:rPr>
              <a:t>• Stage 1  (4 epochs, head only)  →  Stage 2  (15–50 epochs, full fine-tune)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55A64"/>
                </a:solidFill>
              </a:rPr>
              <a:t>• Best-epoch checkpoint is identified by valid_loss and archived to R2 after Stage 2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55A64"/>
                </a:solidFill>
              </a:rPr>
              <a:t>• Resume from checkpoint: if  last.ckpt  exists, Stage 1 is skipped automatically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11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Data Flow — Restore &amp; Local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0CBC4"/>
                </a:solidFill>
              </a:rPr>
              <a:t>Pull a completed project from R2 to your PC for inspection and correction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2881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5A64"/>
                </a:solidFill>
              </a:rPr>
              <a:t>Herbarium Classification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" y="1216152"/>
            <a:ext cx="2194560" cy="594360"/>
          </a:xfrm>
          <a:prstGeom prst="round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Run
restore_local.py</a:t>
            </a:r>
          </a:p>
        </p:txBody>
      </p:sp>
      <p:sp>
        <p:nvSpPr>
          <p:cNvPr id="9" name="Can 8"/>
          <p:cNvSpPr/>
          <p:nvPr/>
        </p:nvSpPr>
        <p:spPr>
          <a:xfrm>
            <a:off x="2423160" y="1380744"/>
            <a:ext cx="182880" cy="256032"/>
          </a:xfrm>
          <a:prstGeom prst="can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" y="1874520"/>
            <a:ext cx="2194560" cy="146304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9202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Reads R2 credentials
from OS keyring.
No rclone.conf needed.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06040" y="1216152"/>
            <a:ext cx="2194560" cy="594360"/>
          </a:xfrm>
          <a:prstGeom prst="roundRect">
            <a:avLst/>
          </a:prstGeom>
          <a:solidFill>
            <a:srgbClr val="015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Download
checkpoints/</a:t>
            </a:r>
          </a:p>
        </p:txBody>
      </p:sp>
      <p:sp>
        <p:nvSpPr>
          <p:cNvPr id="13" name="Can 12"/>
          <p:cNvSpPr/>
          <p:nvPr/>
        </p:nvSpPr>
        <p:spPr>
          <a:xfrm>
            <a:off x="4800600" y="1380744"/>
            <a:ext cx="182880" cy="256032"/>
          </a:xfrm>
          <a:prstGeom prst="can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6040" y="1874520"/>
            <a:ext cx="2194560" cy="146304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97480" y="19202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last.ckpt + nameslist.json
pulled from
R2 → local disk.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1216152"/>
            <a:ext cx="2194560" cy="59436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Download
specsin.csv</a:t>
            </a:r>
          </a:p>
        </p:txBody>
      </p:sp>
      <p:sp>
        <p:nvSpPr>
          <p:cNvPr id="17" name="Can 16"/>
          <p:cNvSpPr/>
          <p:nvPr/>
        </p:nvSpPr>
        <p:spPr>
          <a:xfrm>
            <a:off x="7178040" y="1380744"/>
            <a:ext cx="182880" cy="256032"/>
          </a:xfrm>
          <a:prstGeom prst="can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83480" y="1874520"/>
            <a:ext cx="2194560" cy="146304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74920" y="19202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Project metadata
restored to
target folder.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60920" y="1216152"/>
            <a:ext cx="2194560" cy="5943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Extract
images.tar</a:t>
            </a:r>
          </a:p>
        </p:txBody>
      </p:sp>
      <p:sp>
        <p:nvSpPr>
          <p:cNvPr id="21" name="Can 20"/>
          <p:cNvSpPr/>
          <p:nvPr/>
        </p:nvSpPr>
        <p:spPr>
          <a:xfrm>
            <a:off x="9555480" y="1380744"/>
            <a:ext cx="182880" cy="256032"/>
          </a:xfrm>
          <a:prstGeom prst="can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60920" y="1874520"/>
            <a:ext cx="2194560" cy="146304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52360" y="19202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Full image set
extracted to
images/ folder.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738360" y="1216152"/>
            <a:ext cx="2194560" cy="594360"/>
          </a:xfrm>
          <a:prstGeom prst="round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Open
web UI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38360" y="1874520"/>
            <a:ext cx="2194560" cy="146304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9800" y="19202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Point Active model
to the .ckpt, click
Apply paths → Identify.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59359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695C"/>
                </a:solidFill>
              </a:rPr>
              <a:t>Restore command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959352"/>
            <a:ext cx="11155680" cy="594360"/>
          </a:xfrm>
          <a:prstGeom prst="rect">
            <a:avLst/>
          </a:prstGeom>
          <a:solidFill>
            <a:srgbClr val="1A20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00507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0CBC4"/>
                </a:solidFill>
              </a:rPr>
              <a:t>python restore_local.py  --project Ebenaceae  --target C:\AIProjects\Ebenaceae  --remote r2:herbarium-backup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478231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55A64"/>
                </a:solidFill>
              </a:rPr>
              <a:t>After restore the target folder contains: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5148071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455A64"/>
                </a:solidFill>
              </a:rPr>
              <a:t>• checkpoints/last.ckpt  +  nameslist.json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55A64"/>
                </a:solidFill>
              </a:rPr>
              <a:t>• specsin.csv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55A64"/>
                </a:solidFill>
              </a:rPr>
              <a:t>• images/   (full image set)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55A64"/>
                </a:solidFill>
              </a:rPr>
              <a:t>• predictions/   (if already run Identify)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478231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695C"/>
                </a:solidFill>
              </a:rPr>
              <a:t>Then in the web UI: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0" y="5148071"/>
            <a:ext cx="5669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Header → Active model → browse to  last.ckpt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Header → Projects root + Project name → Apply paths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Identify tab → Run  (generates predictions.csv)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Review tab → inspect predictions, correct labels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Analysis tab → confusion matrix + per-species accuracy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11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Getting Started — Quick-Start Checklist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2881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5A64"/>
                </a:solidFill>
              </a:rPr>
              <a:t>Herbarium Classification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21615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95C"/>
                </a:solidFill>
              </a:rPr>
              <a:t>Accounts &amp; credentials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627632"/>
            <a:ext cx="1463040" cy="530352"/>
          </a:xfrm>
          <a:prstGeom prst="round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Cloudflare R2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1719072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Sign up · create herbarium-backup bucket · generate API token (Read &amp; Edit)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313432"/>
            <a:ext cx="1463040" cy="530352"/>
          </a:xfrm>
          <a:prstGeom prst="roundRect">
            <a:avLst/>
          </a:prstGeom>
          <a:solidFill>
            <a:srgbClr val="015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RunPod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404872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Sign up · add billing · create API key (rpa_…) · register SSH public key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2999232"/>
            <a:ext cx="1463040" cy="530352"/>
          </a:xfrm>
          <a:prstGeom prst="round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WandB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3090672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Optional — free for academic use · get API key for live training graphs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73075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95C"/>
                </a:solidFill>
              </a:rPr>
              <a:t>One-time local setup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096512"/>
            <a:ext cx="5669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Generate SSH key:   ssh-keygen -t ed25519 -f %USERPROFILE%\.ssh\id_ed25519_herbarium -N ""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Register the .pub content at RunPod → Settings → SSH Public Keys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Enter keys in the web UI ⚙ Setup tab and click Save for each section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Run  python herbarium_pipeline_webui.py  — opens at http://localhost:8765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216152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95C"/>
                </a:solidFill>
              </a:rPr>
              <a:t>First run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627632"/>
            <a:ext cx="384048" cy="475488"/>
          </a:xfrm>
          <a:prstGeom prst="round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1700784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Set Projects root and Project name in the header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2194560"/>
            <a:ext cx="384048" cy="475488"/>
          </a:xfrm>
          <a:prstGeom prst="round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267712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Click Apply paths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2761488"/>
            <a:ext cx="384048" cy="475488"/>
          </a:xfrm>
          <a:prstGeom prst="round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834640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Download tab → choose a Family (start small: limit 200)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328416"/>
            <a:ext cx="384048" cy="475488"/>
          </a:xfrm>
          <a:prstGeom prst="round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401568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Filter &amp; Crop tab → Run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3895344"/>
            <a:ext cx="384048" cy="475488"/>
          </a:xfrm>
          <a:prstGeom prst="round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3968496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Resize tab → Run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4462272"/>
            <a:ext cx="384048" cy="475488"/>
          </a:xfrm>
          <a:prstGeom prst="round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4535424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Train tab → set Stage 2 epochs to 5 for a test run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5029200"/>
            <a:ext cx="384048" cy="475488"/>
          </a:xfrm>
          <a:prstGeom prst="round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5102352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Identify tab → Run and check predictions.csv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11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Publish &amp; Identify on a Phone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0CBC4"/>
                </a:solidFill>
              </a:rPr>
              <a:t>Publish a trained model to the Hugging Face Hub — anyone identifies specimens from a phone browser, no install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2881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5A64"/>
                </a:solidFill>
              </a:rPr>
              <a:t>Herbarium Classification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399032"/>
            <a:ext cx="2286000" cy="96012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Trained
checkpoint
.ckpt</a:t>
            </a:r>
          </a:p>
        </p:txBody>
      </p:sp>
      <p:sp>
        <p:nvSpPr>
          <p:cNvPr id="9" name="Can 8"/>
          <p:cNvSpPr/>
          <p:nvPr/>
        </p:nvSpPr>
        <p:spPr>
          <a:xfrm>
            <a:off x="2697480" y="1746504"/>
            <a:ext cx="1234440" cy="256032"/>
          </a:xfrm>
          <a:prstGeom prst="can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7480" y="1581912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55A64"/>
                </a:solidFill>
              </a:rPr>
              <a:t>push_model.py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23360" y="1399032"/>
            <a:ext cx="3200400" cy="960120"/>
          </a:xfrm>
          <a:prstGeom prst="roundRect">
            <a:avLst/>
          </a:prstGeom>
          <a:solidFill>
            <a:srgbClr val="015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Hugging Face Hub
model repo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model.ckpt · nameslist · config.json</a:t>
            </a:r>
          </a:p>
        </p:txBody>
      </p:sp>
      <p:sp>
        <p:nvSpPr>
          <p:cNvPr id="12" name="Can 11"/>
          <p:cNvSpPr/>
          <p:nvPr/>
        </p:nvSpPr>
        <p:spPr>
          <a:xfrm>
            <a:off x="7269480" y="1746504"/>
            <a:ext cx="1234440" cy="256032"/>
          </a:xfrm>
          <a:prstGeom prst="can">
            <a:avLst/>
          </a:prstGeom>
          <a:solidFill>
            <a:srgbClr val="015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69480" y="1581912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55A64"/>
                </a:solidFill>
              </a:rPr>
              <a:t>auto-discovered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0" y="1399032"/>
            <a:ext cx="3200400" cy="960120"/>
          </a:xfrm>
          <a:prstGeom prst="round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herbarium-id Space
Gradio · free CPU tier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263347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95C"/>
                </a:solidFill>
              </a:rPr>
              <a:t>Publishing a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044951"/>
            <a:ext cx="5577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push_model.py slims the checkpoint (drops optimizer, ~⅓ size) and uploads model.ckpt + nameslist.json + config.json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Repo tagged herbarium-pipeline → the Space discovers it automatically; tap ⟳ to refresh (no redeploy)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config.json carries image size, label rank, and a calibration temperature so confidence is honest, not ~100 %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One-time  huggingface-cli login  with a write token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148071"/>
            <a:ext cx="5577840" cy="548640"/>
          </a:xfrm>
          <a:prstGeom prst="rect">
            <a:avLst/>
          </a:prstGeom>
          <a:solidFill>
            <a:srgbClr val="1A20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521208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CBC4"/>
                </a:solidFill>
              </a:rPr>
              <a:t>python space/push_model.py --ckpt … --family Ebenaceae --hf-user &lt;you&gt;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63347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95C"/>
                </a:solidFill>
              </a:rPr>
              <a:t>On a phone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044951"/>
            <a:ext cx="3840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Open the Space URL in any phone browser — nothing to install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Pick a model, tap to photograph a sheet with the rear camera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Top-5 species / family + confidence in a second or two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Optional lat/lon sharpens geo-aware models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424160" y="2724912"/>
            <a:ext cx="1371600" cy="2743200"/>
          </a:xfrm>
          <a:prstGeom prst="roundRect">
            <a:avLst/>
          </a:prstGeom>
          <a:solidFill>
            <a:srgbClr val="1A20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515600" y="2889504"/>
            <a:ext cx="1188720" cy="24140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515600" y="2889504"/>
            <a:ext cx="1188720" cy="2926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33888" y="2898648"/>
            <a:ext cx="1152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🌿 Herbarium ID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25328" y="3291840"/>
            <a:ext cx="969264" cy="868680"/>
          </a:xfrm>
          <a:prstGeom prst="rect">
            <a:avLst/>
          </a:prstGeom>
          <a:solidFill>
            <a:srgbClr val="E0F2F1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25328" y="3529584"/>
            <a:ext cx="9692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55A64"/>
                </a:solidFill>
              </a:rPr>
              <a:t>sheet
photo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625328" y="4279392"/>
            <a:ext cx="872337" cy="18288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625328" y="4572000"/>
            <a:ext cx="581558" cy="182880"/>
          </a:xfrm>
          <a:prstGeom prst="rect">
            <a:avLst/>
          </a:prstGeom>
          <a:solidFill>
            <a:srgbClr val="80C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625328" y="4864608"/>
            <a:ext cx="387705" cy="182880"/>
          </a:xfrm>
          <a:prstGeom prst="rect">
            <a:avLst/>
          </a:prstGeom>
          <a:solidFill>
            <a:srgbClr val="80C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5760" y="5806440"/>
            <a:ext cx="11457432" cy="502920"/>
          </a:xfrm>
          <a:prstGeom prst="rect">
            <a:avLst/>
          </a:prstGeom>
          <a:solidFill>
            <a:srgbClr val="E0F2F1"/>
          </a:solidFill>
          <a:ln w="9525">
            <a:solidFill>
              <a:srgbClr val="80C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587044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695C"/>
                </a:solidFill>
              </a:rPr>
              <a:t>Live now:  https://huggingface.co/spaces/ggosline/herbarium-id     ·     models: africa-angiosperms-family · olacaceae-species · uvaria-species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